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46CDDC"/>
                </a:solidFill>
                <a:latin typeface="Aptos"/>
              </a:defRPr>
            </a:pPr>
            <a:r>
              <a:t>CONNECTED BY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4600" b="1">
                <a:solidFill>
                  <a:srgbClr val="FFFFFF"/>
                </a:solidFill>
                <a:latin typeface="Aptos"/>
              </a:defRPr>
            </a:pPr>
            <a:r>
              <a:t>ANVEXA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500" b="0">
                <a:solidFill>
                  <a:srgbClr val="FFFFFF"/>
                </a:solidFill>
                <a:latin typeface="Aptos"/>
              </a:defRPr>
            </a:pPr>
            <a:r>
              <a:t>Investor Pitch | Finance &amp; Growth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063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B9D2DC"/>
                </a:solidFill>
                <a:latin typeface="Aptos"/>
              </a:defRPr>
            </a:pPr>
            <a:r>
              <a:t>Nishant | Chief Financial Officer</a:t>
            </a:r>
          </a:p>
          <a:p>
            <a:pPr>
              <a:spcAft>
                <a:spcPts val="800"/>
              </a:spcAft>
              <a:defRPr sz="1700" b="0">
                <a:solidFill>
                  <a:srgbClr val="B9D2DC"/>
                </a:solidFill>
                <a:latin typeface="Aptos"/>
              </a:defRPr>
            </a:pPr>
            <a:r>
              <a:t>Pune, Maharashtra, India | Founded 2023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3035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46CDDC"/>
                </a:solidFill>
                <a:latin typeface="Aptos"/>
              </a:defRPr>
            </a:pPr>
            <a:r>
              <a:t>Capital with purpose. Growth with accountability.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37960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B9D2DC"/>
                </a:solidFill>
                <a:latin typeface="Aptos"/>
              </a:defRPr>
            </a:pPr>
            <a:r>
              <a:t>ANVEXA | CFO INVESTOR BRIEF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FFFFFF"/>
                </a:solidFill>
                <a:latin typeface="Aptos"/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B9D2DC"/>
                </a:solidFill>
                <a:latin typeface="Aptos"/>
              </a:defRPr>
            </a:pPr>
            <a:r>
              <a:t>Three-year B2B technology business seeking growth capital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005840" cy="45720"/>
          </a:xfrm>
          <a:prstGeom prst="rect">
            <a:avLst/>
          </a:prstGeom>
          <a:solidFill>
            <a:srgbClr val="00A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89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• Core offer: cloud migration/support, cybersecurity hardening, AI-enabled reporting and custom business software.</a:t>
            </a:r>
          </a:p>
          <a:p>
            <a:pPr>
              <a:spcAft>
                <a:spcPts val="8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• Operating base: Pune; current commercial focus on Pune and Mumbai, Maharashtra.</a:t>
            </a:r>
          </a:p>
          <a:p>
            <a:pPr>
              <a:spcAft>
                <a:spcPts val="8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• Illustrative FY2025–26: ₹3.00 crore revenue, ₹36 lakh net profit, 58% gross margin.</a:t>
            </a:r>
          </a:p>
          <a:p>
            <a:pPr>
              <a:spcAft>
                <a:spcPts val="8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• Pitch scenario: 32 active recurring clients and 45+ projects delivered over three years.</a:t>
            </a:r>
          </a:p>
          <a:p>
            <a:pPr>
              <a:spcAft>
                <a:spcPts val="8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• Funding request: ₹2.00 crore for productization, sales, talent, infrastructure, security and working capital.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37960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B9D2DC"/>
                </a:solidFill>
                <a:latin typeface="Aptos"/>
              </a:defRPr>
            </a:pPr>
            <a:r>
              <a:t>ANVEXA | CFO INVESTOR BRIEF • Illustrative model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FFFFFF"/>
                </a:solidFill>
                <a:latin typeface="Aptos"/>
              </a:defRPr>
            </a:pPr>
            <a:r>
              <a:t>Fix the draft before presenting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B9D2DC"/>
                </a:solidFill>
                <a:latin typeface="Aptos"/>
              </a:defRPr>
            </a:pPr>
            <a:r>
              <a:t>Investors will challenge contradictions first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005840" cy="45720"/>
          </a:xfrm>
          <a:prstGeom prst="rect">
            <a:avLst/>
          </a:prstGeom>
          <a:solidFill>
            <a:srgbClr val="00A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89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FFFFFF"/>
                </a:solidFill>
                <a:latin typeface="Aptos"/>
              </a:defRPr>
            </a:pPr>
            <a:r>
              <a:t>• Annual revenue ₹1.20Cr + ₹2.00Cr + ₹3.00Cr = ₹6.20Cr cumulative; this conflicts with the draft’s ₹2.85Cr claim.</a:t>
            </a:r>
          </a:p>
          <a:p>
            <a:pPr>
              <a:spcAft>
                <a:spcPts val="800"/>
              </a:spcAft>
              <a:defRPr sz="1700" b="0">
                <a:solidFill>
                  <a:srgbClr val="FFFFFF"/>
                </a:solidFill>
                <a:latin typeface="Aptos"/>
              </a:defRPr>
            </a:pPr>
            <a:r>
              <a:t>• Year 1 net profit is stated as ₹6L, while another sentence calls Year 1 a loss. Choose one consistent version.</a:t>
            </a:r>
          </a:p>
          <a:p>
            <a:pPr>
              <a:spcAft>
                <a:spcPts val="800"/>
              </a:spcAft>
              <a:defRPr sz="1700" b="0">
                <a:solidFill>
                  <a:srgbClr val="FFFFFF"/>
                </a:solidFill>
                <a:latin typeface="Aptos"/>
              </a:defRPr>
            </a:pPr>
            <a:r>
              <a:t>• Funding ask appears as both ₹2Cr and ₹1.5Cr. This deck uses ₹2Cr throughout.</a:t>
            </a:r>
          </a:p>
          <a:p>
            <a:pPr>
              <a:spcAft>
                <a:spcPts val="800"/>
              </a:spcAft>
              <a:defRPr sz="1700" b="0">
                <a:solidFill>
                  <a:srgbClr val="FFFFFF"/>
                </a:solidFill>
                <a:latin typeface="Aptos"/>
              </a:defRPr>
            </a:pPr>
            <a:r>
              <a:t>• 32 recurring clients and ₹90L ARR need a revenue bridge: recurring contracts versus onboarding and project work.</a:t>
            </a:r>
          </a:p>
          <a:p>
            <a:pPr>
              <a:spcAft>
                <a:spcPts val="800"/>
              </a:spcAft>
              <a:defRPr sz="1700" b="0">
                <a:solidFill>
                  <a:srgbClr val="FFFFFF"/>
                </a:solidFill>
                <a:latin typeface="Aptos"/>
              </a:defRPr>
            </a:pPr>
            <a:r>
              <a:t>• Treat all company financials/client counts as illustrative unless verified; never invent named clients or client outcomes.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37960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B9D2DC"/>
                </a:solidFill>
                <a:latin typeface="Aptos"/>
              </a:defRPr>
            </a:pPr>
            <a:r>
              <a:t>ANVEXA | CFO INVESTOR BRIEF • Illustrative model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FFFFFF"/>
                </a:solidFill>
                <a:latin typeface="Aptos"/>
              </a:defRPr>
            </a:pPr>
            <a:r>
              <a:t>Market reach: local execution, national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B9D2DC"/>
                </a:solidFill>
                <a:latin typeface="Aptos"/>
              </a:defRPr>
            </a:pPr>
            <a:r>
              <a:t>Be clear about where Anvexa is today versus where it plans to go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005840" cy="45720"/>
          </a:xfrm>
          <a:prstGeom prst="rect">
            <a:avLst/>
          </a:prstGeom>
          <a:solidFill>
            <a:srgbClr val="00A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89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• Current focus: Pune and Mumbai, Maharashtra; delivery capacity remains Maharashtra-led.</a:t>
            </a:r>
          </a:p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• Target sectors: retail/distribution, IT/software services, logistics/manufacturing, professional services.</a:t>
            </a:r>
          </a:p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• Next expansion candidates: Ahmedabad/Surat and Bengaluru, only after pipeline and delivery milestones are met.</a:t>
            </a:r>
          </a:p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• No overseas client revenue is assumed in this base case.</a:t>
            </a:r>
          </a:p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• External context: MSMEs contributed 30.1% of India GDP in FY2022–23 (PIB, July 2024); Gartner forecast Indian public-cloud spending at US$17.5B in 2026. These are broad market indicators, not Anvexa revenue.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37960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B9D2DC"/>
                </a:solidFill>
                <a:latin typeface="Aptos"/>
              </a:defRPr>
            </a:pPr>
            <a:r>
              <a:t>ANVEXA | CFO INVESTOR BRIEF • Illustrative model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FFFFFF"/>
                </a:solidFill>
                <a:latin typeface="Aptos"/>
              </a:defRPr>
            </a:pPr>
            <a:r>
              <a:t>Products &amp; revenue streams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B9D2DC"/>
                </a:solidFill>
                <a:latin typeface="Aptos"/>
              </a:defRPr>
            </a:pPr>
            <a:r>
              <a:t>One accountable partner across connected services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005840" cy="45720"/>
          </a:xfrm>
          <a:prstGeom prst="rect">
            <a:avLst/>
          </a:prstGeom>
          <a:solidFill>
            <a:srgbClr val="00A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89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• Anvexa InsightX: billing, inventory, dispatch and reporting dashboard.</a:t>
            </a:r>
          </a:p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• Anvexa CloudSphere: migration, monitoring and managed support; 99.9% uptime is a target only if contract/SLA terms support it.</a:t>
            </a:r>
          </a:p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• Anvexa NexusAI: workflow automation and scheduled reports.</a:t>
            </a:r>
          </a:p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• Anvexa Sentinel: security assessment, hardening and monitoring; never claim breach-proof protection.</a:t>
            </a:r>
          </a:p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• Anvexa StudioX: custom web/mobile portals and integrations.</a:t>
            </a:r>
          </a:p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• Revenue: onboarding/migration fees + recurring subscriptions/support + scoped custom projects.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37960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B9D2DC"/>
                </a:solidFill>
                <a:latin typeface="Aptos"/>
              </a:defRPr>
            </a:pPr>
            <a:r>
              <a:t>ANVEXA | CFO INVESTOR BRIEF • Illustrative model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FFFFFF"/>
                </a:solidFill>
                <a:latin typeface="Aptos"/>
              </a:defRPr>
            </a:pPr>
            <a:r>
              <a:t>Client profile: quantify the 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B9D2DC"/>
                </a:solidFill>
                <a:latin typeface="Aptos"/>
              </a:defRPr>
            </a:pPr>
            <a:r>
              <a:t>Use aggregate profile unless client names and permissions are confirmed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005840" cy="45720"/>
          </a:xfrm>
          <a:prstGeom prst="rect">
            <a:avLst/>
          </a:prstGeom>
          <a:solidFill>
            <a:srgbClr val="00A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89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• Pitch scenario: 32 active recurring clients at Year 3 end; 45+ completed projects cumulatively.</a:t>
            </a:r>
          </a:p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• Illustrative client mix: 14 retail/distribution, 8 IT/software, 6 logistics/manufacturing, 4 professional services.</a:t>
            </a:r>
          </a:p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• ₹90L ARR ÷ 32 clients = average ₹2.81L annual ARR/client (about ₹23,438/month); individual contracts vary.</a:t>
            </a:r>
          </a:p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• Appendix evidence: anonymized case study, problem → solution → outcome, timeline, contract type and renewal status.</a:t>
            </a:r>
          </a:p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• Do not name clients, show logos or quantify savings unless verified and approved.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37960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B9D2DC"/>
                </a:solidFill>
                <a:latin typeface="Aptos"/>
              </a:defRPr>
            </a:pPr>
            <a:r>
              <a:t>ANVEXA | CFO INVESTOR BRIEF • Illustrative model</a:t>
            </a:r>
          </a:p>
        </p:txBody>
      </p:sp>
      <p:pic>
        <p:nvPicPr>
          <p:cNvPr id="8" name="Picture 7" descr="anvexa_client_m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3200400"/>
            <a:ext cx="4297680" cy="2762794"/>
          </a:xfrm>
          <a:prstGeom prst="rect">
            <a:avLst/>
          </a:prstGeom>
        </p:spPr>
      </p:pic>
      <p:pic>
        <p:nvPicPr>
          <p:cNvPr id="9" name="Picture 8" descr="anvexa_revenue_grow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45920"/>
            <a:ext cx="5486400" cy="3135086"/>
          </a:xfrm>
          <a:prstGeom prst="rect">
            <a:avLst/>
          </a:prstGeom>
        </p:spPr>
      </p:pic>
      <p:pic>
        <p:nvPicPr>
          <p:cNvPr id="10" name="Picture 9" descr="anvexa_net_profi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645920"/>
            <a:ext cx="5212080" cy="297833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53492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46CDDC"/>
                </a:solidFill>
                <a:latin typeface="Aptos"/>
              </a:defRPr>
            </a:pPr>
            <a:r>
              <a:t>Revenue: ₹1.20Cr → ₹2.00Cr → ₹3.00Cr | Net profit: ₹6L → ₹15L → ₹36L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FFFFFF"/>
                </a:solidFill>
                <a:latin typeface="Aptos"/>
              </a:defRPr>
            </a:pPr>
            <a:r>
              <a:t>Three-year financial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B9D2DC"/>
                </a:solidFill>
                <a:latin typeface="Aptos"/>
              </a:defRPr>
            </a:pPr>
            <a:r>
              <a:t>Illustrative management case; reconcile against accounts before external use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005840" cy="45720"/>
          </a:xfrm>
          <a:prstGeom prst="rect">
            <a:avLst/>
          </a:prstGeom>
          <a:solidFill>
            <a:srgbClr val="00A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B9D2DC"/>
                </a:solidFill>
                <a:latin typeface="Aptos"/>
              </a:defRPr>
            </a:pPr>
            <a:r>
              <a:t>ANVEXA | CFO INVESTOR BRIEF • Illustrative model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FFFFFF"/>
                </a:solidFill>
                <a:latin typeface="Aptos"/>
              </a:defRPr>
            </a:pPr>
            <a:r>
              <a:t>FY2025–26 P&amp;L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B9D2DC"/>
                </a:solidFill>
                <a:latin typeface="Aptos"/>
              </a:defRPr>
            </a:pPr>
            <a:r>
              <a:t>₹ lakh | internally reconciled illustrative numbers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005840" cy="45720"/>
          </a:xfrm>
          <a:prstGeom prst="rect">
            <a:avLst/>
          </a:prstGeom>
          <a:solidFill>
            <a:srgbClr val="00A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89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• Revenue: ₹300L</a:t>
            </a:r>
          </a:p>
          <a:p>
            <a:pPr>
              <a:spcAft>
                <a:spcPts val="8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• Direct delivery costs: ₹126L → Gross profit ₹174L (58% gross margin)</a:t>
            </a:r>
          </a:p>
          <a:p>
            <a:pPr>
              <a:spcAft>
                <a:spcPts val="8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• Operating expenses: ₹114L → EBITDA ₹60L</a:t>
            </a:r>
          </a:p>
          <a:p>
            <a:pPr>
              <a:spcAft>
                <a:spcPts val="8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• Depreciation + interest: ₹12L → Profit before tax ₹48L</a:t>
            </a:r>
          </a:p>
          <a:p>
            <a:pPr>
              <a:spcAft>
                <a:spcPts val="8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• Estimated tax: ₹12L → Net profit after tax ₹36L (12% net margin)</a:t>
            </a:r>
          </a:p>
          <a:p>
            <a:pPr>
              <a:spcAft>
                <a:spcPts val="8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• Tax is simplified for the classroom model, not an actual tax calculation.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37960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B9D2DC"/>
                </a:solidFill>
                <a:latin typeface="Aptos"/>
              </a:defRPr>
            </a:pPr>
            <a:r>
              <a:t>ANVEXA | CFO INVESTOR BRIEF • Illustrative model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FFFFFF"/>
                </a:solidFill>
                <a:latin typeface="Aptos"/>
              </a:defRPr>
            </a:pPr>
            <a:r>
              <a:t>Cash discipline &amp; working capital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B9D2DC"/>
                </a:solidFill>
                <a:latin typeface="Aptos"/>
              </a:defRPr>
            </a:pPr>
            <a:r>
              <a:t>Profit is not the same as cash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005840" cy="45720"/>
          </a:xfrm>
          <a:prstGeom prst="rect">
            <a:avLst/>
          </a:prstGeom>
          <a:solidFill>
            <a:srgbClr val="00A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89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FFFFFF"/>
                </a:solidFill>
                <a:latin typeface="Aptos"/>
              </a:defRPr>
            </a:pPr>
            <a:r>
              <a:t>• Illustrative cash: ₹45L; receivables: ₹35L; existing loans: ₹20L. Verify these before presenting.</a:t>
            </a:r>
          </a:p>
          <a:p>
            <a:pPr>
              <a:spcAft>
                <a:spcPts val="800"/>
              </a:spcAft>
              <a:defRPr sz="1700" b="0">
                <a:solidFill>
                  <a:srgbClr val="FFFFFF"/>
                </a:solidFill>
                <a:latin typeface="Aptos"/>
              </a:defRPr>
            </a:pPr>
            <a:r>
              <a:t>• Receivables-days rough proxy: ₹35L ÷ ₹300L × 365 ≈ 43 days; proper DSO uses credit sales and average receivables.</a:t>
            </a:r>
          </a:p>
          <a:p>
            <a:pPr>
              <a:spcAft>
                <a:spcPts val="800"/>
              </a:spcAft>
              <a:defRPr sz="1700" b="0">
                <a:solidFill>
                  <a:srgbClr val="FFFFFF"/>
                </a:solidFill>
                <a:latin typeface="Aptos"/>
              </a:defRPr>
            </a:pPr>
            <a:r>
              <a:t>• Weekly ageing review; escalation at 30/45/60 days; milestone billing and clear payment terms.</a:t>
            </a:r>
          </a:p>
          <a:p>
            <a:pPr>
              <a:spcAft>
                <a:spcPts val="800"/>
              </a:spcAft>
              <a:defRPr sz="1700" b="0">
                <a:solidFill>
                  <a:srgbClr val="FFFFFF"/>
                </a:solidFill>
                <a:latin typeface="Aptos"/>
              </a:defRPr>
            </a:pPr>
            <a:r>
              <a:t>• Maintain a 13-week rolling cash forecast and monthly budget-vs-actual review.</a:t>
            </a:r>
          </a:p>
          <a:p>
            <a:pPr>
              <a:spcAft>
                <a:spcPts val="800"/>
              </a:spcAft>
              <a:defRPr sz="1700" b="0">
                <a:solidFill>
                  <a:srgbClr val="FFFFFF"/>
                </a:solidFill>
                <a:latin typeface="Aptos"/>
              </a:defRPr>
            </a:pPr>
            <a:r>
              <a:t>• Runway = unrestricted cash ÷ average monthly net cash burn; do not invent runway if cash flow is positive or commitments are unknown.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37960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B9D2DC"/>
                </a:solidFill>
                <a:latin typeface="Aptos"/>
              </a:defRPr>
            </a:pPr>
            <a:r>
              <a:t>ANVEXA | CFO INVESTOR BRIEF • Illustrative model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FFFFFF"/>
                </a:solidFill>
                <a:latin typeface="Aptos"/>
              </a:defRPr>
            </a:pPr>
            <a:r>
              <a:t>Funding request &amp; 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B9D2DC"/>
                </a:solidFill>
                <a:latin typeface="Aptos"/>
              </a:defRPr>
            </a:pPr>
            <a:r>
              <a:t>Proposed growth round; terms subject to negotiation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005840" cy="45720"/>
          </a:xfrm>
          <a:prstGeom prst="rect">
            <a:avLst/>
          </a:prstGeom>
          <a:solidFill>
            <a:srgbClr val="00A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89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• Ask: ₹2.00 crore for 16.67% post-investment ownership.</a:t>
            </a:r>
          </a:p>
          <a:p>
            <a:pPr>
              <a:spcAft>
                <a:spcPts val="8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• Post-money valuation = ₹2.00Cr ÷ 16.67% ≈ ₹12.00Cr.</a:t>
            </a:r>
          </a:p>
          <a:p>
            <a:pPr>
              <a:spcAft>
                <a:spcPts val="8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• Pre-money valuation = ₹12.00Cr − ₹2.00Cr = ₹10.00Cr.</a:t>
            </a:r>
          </a:p>
          <a:p>
            <a:pPr>
              <a:spcAft>
                <a:spcPts val="8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• Rationale to defend: revenue quality, 58% gross margin, ₹36L net profit, ₹90L ARR, retention and qualified pipeline.</a:t>
            </a:r>
          </a:p>
          <a:p>
            <a:pPr>
              <a:spcAft>
                <a:spcPts val="8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• This is a proposed negotiating valuation, not an independent valuation or guaranteed investor return.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37960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B9D2DC"/>
                </a:solidFill>
                <a:latin typeface="Aptos"/>
              </a:defRPr>
            </a:pPr>
            <a:r>
              <a:t>ANVEXA | CFO INVESTOR BRIEF • Illustrative model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FFFFFF"/>
                </a:solidFill>
                <a:latin typeface="Aptos"/>
              </a:defRPr>
            </a:pPr>
            <a:r>
              <a:t>Use of funds: every rupee has a job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B9D2DC"/>
                </a:solidFill>
                <a:latin typeface="Aptos"/>
              </a:defRPr>
            </a:pPr>
            <a:r>
              <a:t>Proposed allocation of ₹2 crore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005840" cy="45720"/>
          </a:xfrm>
          <a:prstGeom prst="rect">
            <a:avLst/>
          </a:prstGeom>
          <a:solidFill>
            <a:srgbClr val="00A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89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• Engineering &amp; R&amp;D: 30% = ₹60L — productize repeatable modules.</a:t>
            </a:r>
          </a:p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• Sales &amp; marketing: 25% = ₹50L — targeted B2B pipeline and partner channel.</a:t>
            </a:r>
          </a:p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• Talent &amp; hiring: 20% = ₹40L — hire against delivery/product milestones.</a:t>
            </a:r>
          </a:p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• Infrastructure &amp; cloud: 10% = ₹20L — tooling, test environments and delivery capacity.</a:t>
            </a:r>
          </a:p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• Security &amp; compliance: 10% = ₹20L — audits, controls and readiness.</a:t>
            </a:r>
          </a:p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• Working capital: 5% = ₹10L — buffer for collection timing.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37960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B9D2DC"/>
                </a:solidFill>
                <a:latin typeface="Aptos"/>
              </a:defRPr>
            </a:pPr>
            <a:r>
              <a:t>ANVEXA | CFO INVESTOR BRIEF • Illustrative model</a:t>
            </a:r>
          </a:p>
        </p:txBody>
      </p:sp>
      <p:pic>
        <p:nvPicPr>
          <p:cNvPr id="8" name="Picture 7" descr="anvexa_fund_allo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3200400"/>
            <a:ext cx="4297680" cy="276279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FFFFFF"/>
                </a:solidFill>
                <a:latin typeface="Aptos"/>
              </a:defRPr>
            </a:pPr>
            <a:r>
              <a:t>Milestones &amp; risk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B9D2DC"/>
                </a:solidFill>
                <a:latin typeface="Aptos"/>
              </a:defRPr>
            </a:pPr>
            <a:r>
              <a:t>Capital released against measurable progress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005840" cy="45720"/>
          </a:xfrm>
          <a:prstGeom prst="rect">
            <a:avLst/>
          </a:prstGeom>
          <a:solidFill>
            <a:srgbClr val="00A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89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• 0–3 months: confirm unit economics, select two product modules, launch monthly finance dashboard.</a:t>
            </a:r>
          </a:p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• 3–6 months: build qualified sales pipeline in Pune/Mumbai; publish three permissioned case studies.</a:t>
            </a:r>
          </a:p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• 6–12 months: package repeatable modules; track ARR, gross margin, collection days and renewals.</a:t>
            </a:r>
          </a:p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• 12–24 months: test Gujarat/Bengaluru partner channels only after pipeline and delivery gates are met.</a:t>
            </a:r>
          </a:p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• Risks: client concentration, delayed collections, scope creep, cybersecurity incidents, hiring ahead of demand and unproven quantum spend.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37960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B9D2DC"/>
                </a:solidFill>
                <a:latin typeface="Aptos"/>
              </a:defRPr>
            </a:pPr>
            <a:r>
              <a:t>ANVEXA | CFO INVESTOR BRIEF • Illustrative model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FFFFFF"/>
                </a:solidFill>
                <a:latin typeface="Aptos"/>
              </a:defRPr>
            </a:pPr>
            <a:r>
              <a:t>Investor reporting &amp;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B9D2DC"/>
                </a:solidFill>
                <a:latin typeface="Aptos"/>
              </a:defRPr>
            </a:pPr>
            <a:r>
              <a:t>A finance system investors can trust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005840" cy="45720"/>
          </a:xfrm>
          <a:prstGeom prst="rect">
            <a:avLst/>
          </a:prstGeom>
          <a:solidFill>
            <a:srgbClr val="00A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89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FFFFFF"/>
                </a:solidFill>
                <a:latin typeface="Aptos"/>
              </a:defRPr>
            </a:pPr>
            <a:r>
              <a:t>• Monthly: P&amp;L, cash-flow view, balance-sheet snapshot, budget variance, ARR, receivables ageing and sales pipeline.</a:t>
            </a:r>
          </a:p>
          <a:p>
            <a:pPr>
              <a:spcAft>
                <a:spcPts val="800"/>
              </a:spcAft>
              <a:defRPr sz="1700" b="0">
                <a:solidFill>
                  <a:srgbClr val="FFFFFF"/>
                </a:solidFill>
                <a:latin typeface="Aptos"/>
              </a:defRPr>
            </a:pPr>
            <a:r>
              <a:t>• Quarterly: client concentration, churn/renewals, project margins, hiring progress, risk register and funding milestones.</a:t>
            </a:r>
          </a:p>
          <a:p>
            <a:pPr>
              <a:spcAft>
                <a:spcPts val="800"/>
              </a:spcAft>
              <a:defRPr sz="1700" b="0">
                <a:solidFill>
                  <a:srgbClr val="FFFFFF"/>
                </a:solidFill>
                <a:latin typeface="Aptos"/>
              </a:defRPr>
            </a:pPr>
            <a:r>
              <a:t>• Controls: bank reconciliation, approval matrix, purchase orders, contract review and documented expense policy.</a:t>
            </a:r>
          </a:p>
          <a:p>
            <a:pPr>
              <a:spcAft>
                <a:spcPts val="800"/>
              </a:spcAft>
              <a:defRPr sz="1700" b="0">
                <a:solidFill>
                  <a:srgbClr val="FFFFFF"/>
                </a:solidFill>
                <a:latin typeface="Aptos"/>
              </a:defRPr>
            </a:pPr>
            <a:r>
              <a:t>• Clearly label audited actuals, management accounts, forecasts and assumptions.</a:t>
            </a:r>
          </a:p>
          <a:p>
            <a:pPr>
              <a:spcAft>
                <a:spcPts val="800"/>
              </a:spcAft>
              <a:defRPr sz="1700" b="0">
                <a:solidFill>
                  <a:srgbClr val="FFFFFF"/>
                </a:solidFill>
                <a:latin typeface="Aptos"/>
              </a:defRPr>
            </a:pPr>
            <a:r>
              <a:t>• Promise transparency and accountability—not guaranteed returns.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37960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B9D2DC"/>
                </a:solidFill>
                <a:latin typeface="Aptos"/>
              </a:defRPr>
            </a:pPr>
            <a:r>
              <a:t>ANVEXA | CFO INVESTOR BRIEF • Illustrative model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800" b="1">
                <a:solidFill>
                  <a:srgbClr val="FFFFFF"/>
                </a:solidFill>
                <a:latin typeface="Aptos"/>
              </a:defRPr>
            </a:pPr>
            <a:r>
              <a:t>ANVEXA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46CDDC"/>
                </a:solidFill>
                <a:latin typeface="Aptos"/>
              </a:defRPr>
            </a:pPr>
            <a:r>
              <a:t>Capital with purpose.</a:t>
            </a:r>
          </a:p>
          <a:p>
            <a:pPr>
              <a:spcAft>
                <a:spcPts val="800"/>
              </a:spcAft>
              <a:defRPr sz="3000" b="1">
                <a:solidFill>
                  <a:srgbClr val="46CDDC"/>
                </a:solidFill>
                <a:latin typeface="Aptos"/>
              </a:defRPr>
            </a:pPr>
            <a:r>
              <a:t>Growth with accountability.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657600"/>
            <a:ext cx="10241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FFFFFF"/>
                </a:solidFill>
                <a:latin typeface="Aptos"/>
              </a:defRPr>
            </a:pPr>
            <a:r>
              <a:t>“Every rupee has a defined use, an owner, a milestone and a reported outcome.”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852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B9D2DC"/>
                </a:solidFill>
                <a:latin typeface="Aptos"/>
              </a:defRPr>
            </a:pPr>
            <a:r>
              <a:t>Nishant | Chief Financial Officer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