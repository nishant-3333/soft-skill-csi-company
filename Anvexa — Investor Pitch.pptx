
<file path=[Content_Types].xml><?xml version="1.0" encoding="utf-8"?>
<Types xmlns="http://schemas.openxmlformats.org/package/2006/content-types">
  <Default Extension="fntdata" ContentType="application/x-fontdata"/>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9" r:id="rId10"/>
    <p:sldId id="264" r:id="rId11"/>
    <p:sldId id="265" r:id="rId12"/>
    <p:sldId id="266" r:id="rId13"/>
    <p:sldId id="267" r:id="rId14"/>
    <p:sldId id="268" r:id="rId15"/>
  </p:sldIdLst>
  <p:sldSz cx="12192000" cy="6858000"/>
  <p:notesSz cx="6858000" cy="12192000"/>
  <p:embeddedFontLst>
    <p:embeddedFont>
      <p:font typeface="Inter" panose="020B0604020202020204" charset="0"/>
      <p:regular r:id="rId17"/>
      <p:bold r:id="rId18"/>
    </p:embeddedFont>
    <p:embeddedFont>
      <p:font typeface="Sora" panose="020B0604020202020204" charset="0"/>
      <p:regular r:id="rId19"/>
      <p:bold r:id="rId20"/>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68079B0-B8BA-F9F0-637D-1CF468329C71}" v="14" dt="2026-10-28T16:54:11.356"/>
    <p1510:client id="{CBB9C345-FDED-587F-E0D3-CA83813FBFE6}" v="72" dt="2026-10-28T18:48:52.18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FAE76E0E-69F7-421A-8BFE-793CD772013D}" type="datetimeFigureOut">
              <a:t>10/28/2026</a:t>
            </a:fld>
            <a:endParaRPr lang="en-US"/>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36D896C4-E0D4-42AC-AF0B-1DF310E16199}" type="slidenum">
              <a:t>‹#›</a:t>
            </a:fld>
            <a:endParaRPr lang="en-US"/>
          </a:p>
        </p:txBody>
      </p:sp>
    </p:spTree>
    <p:extLst>
      <p:ext uri="{BB962C8B-B14F-4D97-AF65-F5344CB8AC3E}">
        <p14:creationId xmlns:p14="http://schemas.microsoft.com/office/powerpoint/2010/main" val="36233099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3EC"/>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785" y="812787"/>
            <a:ext cx="10566357" cy="419071"/>
          </a:xfrm>
          <a:prstGeom prst="rect">
            <a:avLst/>
          </a:prstGeom>
          <a:noFill/>
          <a:ln/>
        </p:spPr>
        <p:txBody>
          <a:bodyPr wrap="square" lIns="0" tIns="0" rIns="0" bIns="0" rtlCol="0" anchor="t"/>
          <a:lstStyle>
            <a:lvl1pPr marL="0" indent="0" algn="l">
              <a:lnSpc>
                <a:spcPct val="115000"/>
              </a:lnSpc>
              <a:buNone/>
              <a:defRPr lang="en-US" sz="3000" dirty="0">
                <a:solidFill>
                  <a:srgbClr val="0E1A2F"/>
                </a:solidFill>
                <a:latin typeface="Sora" pitchFamily="34" charset="0"/>
                <a:ea typeface="Sora" pitchFamily="34" charset="-122"/>
                <a:cs typeface="Sora" pitchFamily="34" charset="-120"/>
              </a:defRPr>
            </a:lvl1pPr>
          </a:lstStyle>
          <a:p>
            <a:pPr marL="0" indent="0" algn="l">
              <a:lnSpc>
                <a:spcPct val="115000"/>
              </a:lnSpc>
              <a:buNone/>
            </a:pPr>
            <a:endParaRPr lang="en-US" sz="3000" dirty="0"/>
          </a:p>
        </p:txBody>
      </p:sp>
      <p:sp>
        <p:nvSpPr>
          <p:cNvPr id="3" name="Text Placeholder 2"/>
          <p:cNvSpPr>
            <a:spLocks noGrp="1"/>
          </p:cNvSpPr>
          <p:nvPr>
            <p:ph type="body" idx="101"/>
          </p:nvPr>
        </p:nvSpPr>
        <p:spPr>
          <a:xfrm>
            <a:off x="812785" y="1536657"/>
            <a:ext cx="10566415" cy="4508543"/>
          </a:xfrm>
          <a:prstGeom prst="rect">
            <a:avLst/>
          </a:prstGeom>
          <a:noFill/>
          <a:ln/>
        </p:spPr>
        <p:txBody>
          <a:bodyPr wrap="square" lIns="0" tIns="0" rIns="0" bIns="0" rtlCol="0" anchor="t"/>
          <a:lstStyle>
            <a:lvl1pPr marL="0" indent="0" algn="l">
              <a:lnSpc>
                <a:spcPct val="140000"/>
              </a:lnSpc>
              <a:buNone/>
              <a:defRPr lang="en-US" sz="1600" dirty="0">
                <a:solidFill>
                  <a:srgbClr val="0E1A2F"/>
                </a:solidFill>
                <a:latin typeface="Inter" pitchFamily="34" charset="0"/>
                <a:ea typeface="Inter" pitchFamily="34" charset="-122"/>
                <a:cs typeface="Inter"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3EC"/>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785" y="812787"/>
            <a:ext cx="10566357" cy="419071"/>
          </a:xfrm>
          <a:prstGeom prst="rect">
            <a:avLst/>
          </a:prstGeom>
          <a:noFill/>
          <a:ln/>
        </p:spPr>
        <p:txBody>
          <a:bodyPr wrap="square" lIns="0" tIns="0" rIns="0" bIns="0" rtlCol="0" anchor="t"/>
          <a:lstStyle>
            <a:lvl1pPr marL="0" indent="0" algn="l">
              <a:lnSpc>
                <a:spcPct val="115000"/>
              </a:lnSpc>
              <a:buNone/>
              <a:defRPr lang="en-US" sz="3000" dirty="0">
                <a:solidFill>
                  <a:srgbClr val="0E1A2F"/>
                </a:solidFill>
                <a:latin typeface="Sora" pitchFamily="34" charset="0"/>
                <a:ea typeface="Sora" pitchFamily="34" charset="-122"/>
                <a:cs typeface="Sora" pitchFamily="34" charset="-120"/>
              </a:defRPr>
            </a:lvl1pPr>
          </a:lstStyle>
          <a:p>
            <a:pPr marL="0" indent="0" algn="l">
              <a:lnSpc>
                <a:spcPct val="115000"/>
              </a:lnSpc>
              <a:buNone/>
            </a:pPr>
            <a:endParaRPr lang="en-US" sz="3000" dirty="0"/>
          </a:p>
        </p:txBody>
      </p:sp>
      <p:sp>
        <p:nvSpPr>
          <p:cNvPr id="3" name="Text Placeholder 2"/>
          <p:cNvSpPr>
            <a:spLocks noGrp="1"/>
          </p:cNvSpPr>
          <p:nvPr>
            <p:ph type="body" idx="101"/>
          </p:nvPr>
        </p:nvSpPr>
        <p:spPr>
          <a:xfrm>
            <a:off x="812785" y="1536657"/>
            <a:ext cx="10566415" cy="4508543"/>
          </a:xfrm>
          <a:prstGeom prst="rect">
            <a:avLst/>
          </a:prstGeom>
          <a:noFill/>
          <a:ln/>
        </p:spPr>
        <p:txBody>
          <a:bodyPr wrap="square" lIns="0" tIns="0" rIns="0" bIns="0" rtlCol="0" anchor="t"/>
          <a:lstStyle>
            <a:lvl1pPr marL="0" indent="0" algn="l">
              <a:lnSpc>
                <a:spcPct val="140000"/>
              </a:lnSpc>
              <a:buNone/>
              <a:defRPr lang="en-US" sz="1600" dirty="0">
                <a:solidFill>
                  <a:srgbClr val="0E1A2F"/>
                </a:solidFill>
                <a:latin typeface="Inter" pitchFamily="34" charset="0"/>
                <a:ea typeface="Inter" pitchFamily="34" charset="-122"/>
                <a:cs typeface="Inter"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A2F"/>
        </a:solidFill>
        <a:effectLst/>
      </p:bgPr>
    </p:bg>
    <p:spTree>
      <p:nvGrpSpPr>
        <p:cNvPr id="1" name=""/>
        <p:cNvGrpSpPr/>
        <p:nvPr/>
      </p:nvGrpSpPr>
      <p:grpSpPr>
        <a:xfrm>
          <a:off x="0" y="0"/>
          <a:ext cx="0" cy="0"/>
          <a:chOff x="0" y="0"/>
          <a:chExt cx="0" cy="0"/>
        </a:xfrm>
      </p:grpSpPr>
      <p:sp>
        <p:nvSpPr>
          <p:cNvPr id="2" name="Shape 0"/>
          <p:cNvSpPr/>
          <p:nvPr/>
        </p:nvSpPr>
        <p:spPr>
          <a:xfrm>
            <a:off x="1143001" y="970935"/>
            <a:ext cx="4571927" cy="4571927"/>
          </a:xfrm>
          <a:prstGeom prst="roundRect">
            <a:avLst>
              <a:gd name="adj" fmla="val 35556"/>
            </a:avLst>
          </a:prstGeom>
          <a:solidFill>
            <a:srgbClr val="14284A"/>
          </a:solidFill>
          <a:ln/>
        </p:spPr>
      </p:sp>
      <p:pic>
        <p:nvPicPr>
          <p:cNvPr id="3" name="Image 0" descr="Anvexa logo"/>
          <p:cNvPicPr>
            <a:picLocks noChangeAspect="1"/>
          </p:cNvPicPr>
          <p:nvPr/>
        </p:nvPicPr>
        <p:blipFill>
          <a:blip r:embed="rId3"/>
          <a:srcRect t="96" b="96"/>
          <a:stretch/>
        </p:blipFill>
        <p:spPr>
          <a:xfrm>
            <a:off x="2090978" y="2029527"/>
            <a:ext cx="2666927" cy="2451071"/>
          </a:xfrm>
          <a:prstGeom prst="roundRect">
            <a:avLst>
              <a:gd name="adj" fmla="val 6218"/>
            </a:avLst>
          </a:prstGeom>
        </p:spPr>
      </p:pic>
      <p:sp>
        <p:nvSpPr>
          <p:cNvPr id="4" name="Text 1"/>
          <p:cNvSpPr>
            <a:spLocks noGrp="1"/>
          </p:cNvSpPr>
          <p:nvPr>
            <p:ph type="title"/>
          </p:nvPr>
        </p:nvSpPr>
        <p:spPr>
          <a:xfrm>
            <a:off x="6965219" y="2035118"/>
            <a:ext cx="4638759" cy="1025525"/>
          </a:xfrm>
          <a:prstGeom prst="rect">
            <a:avLst/>
          </a:prstGeom>
          <a:noFill/>
          <a:ln/>
        </p:spPr>
        <p:txBody>
          <a:bodyPr wrap="square" lIns="0" tIns="0" rIns="0" bIns="0" rtlCol="0" anchor="t">
            <a:normAutofit/>
          </a:bodyPr>
          <a:lstStyle/>
          <a:p>
            <a:pPr marL="0" indent="0" algn="l">
              <a:lnSpc>
                <a:spcPts val="7875"/>
              </a:lnSpc>
              <a:buNone/>
            </a:pPr>
            <a:r>
              <a:rPr lang="en-US" sz="7500" b="1" i="0" dirty="0">
                <a:solidFill>
                  <a:srgbClr val="F5F3EC"/>
                </a:solidFill>
                <a:latin typeface="Sora" pitchFamily="34" charset="0"/>
                <a:ea typeface="Sora" pitchFamily="34" charset="-122"/>
                <a:cs typeface="Sora" pitchFamily="34" charset="-120"/>
              </a:rPr>
              <a:t>Anvexa</a:t>
            </a:r>
            <a:endParaRPr lang="en-US" sz="7500" dirty="0"/>
          </a:p>
        </p:txBody>
      </p:sp>
      <p:sp>
        <p:nvSpPr>
          <p:cNvPr id="5" name="Text 2"/>
          <p:cNvSpPr/>
          <p:nvPr/>
        </p:nvSpPr>
        <p:spPr>
          <a:xfrm>
            <a:off x="6965219" y="3421963"/>
            <a:ext cx="5404380" cy="487686"/>
          </a:xfrm>
          <a:prstGeom prst="rect">
            <a:avLst/>
          </a:prstGeom>
          <a:noFill/>
          <a:ln/>
        </p:spPr>
        <p:txBody>
          <a:bodyPr wrap="square" lIns="0" tIns="0" rIns="0" bIns="0" rtlCol="0" anchor="t">
            <a:normAutofit/>
          </a:bodyPr>
          <a:lstStyle/>
          <a:p>
            <a:pPr marL="0" indent="0" algn="l">
              <a:lnSpc>
                <a:spcPts val="3640"/>
              </a:lnSpc>
              <a:buNone/>
            </a:pPr>
            <a:r>
              <a:rPr lang="en-US" sz="2600" i="1" dirty="0">
                <a:solidFill>
                  <a:srgbClr val="F2A33A"/>
                </a:solidFill>
                <a:latin typeface="Sora" pitchFamily="34" charset="0"/>
                <a:ea typeface="Sora" pitchFamily="34" charset="-122"/>
                <a:cs typeface="Sora" pitchFamily="34" charset="-120"/>
              </a:rPr>
              <a:t>Connected by Intelligence.</a:t>
            </a:r>
            <a:endParaRPr lang="en-US" sz="2600" dirty="0"/>
          </a:p>
        </p:txBody>
      </p:sp>
      <p:sp>
        <p:nvSpPr>
          <p:cNvPr id="6" name="Text 3"/>
          <p:cNvSpPr/>
          <p:nvPr/>
        </p:nvSpPr>
        <p:spPr>
          <a:xfrm>
            <a:off x="6965219" y="4492197"/>
            <a:ext cx="4638759" cy="327686"/>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A9B6CC"/>
                </a:solidFill>
                <a:latin typeface="Inter" pitchFamily="34" charset="0"/>
                <a:ea typeface="Inter" pitchFamily="34" charset="-122"/>
                <a:cs typeface="Inter" pitchFamily="34" charset="-120"/>
              </a:rPr>
              <a:t>Investor Pitch &amp; Business Proposal</a:t>
            </a:r>
            <a:endParaRPr lang="en-US" sz="1700" dirty="0"/>
          </a:p>
        </p:txBody>
      </p:sp>
      <p:sp>
        <p:nvSpPr>
          <p:cNvPr id="7" name="Text 4"/>
          <p:cNvSpPr/>
          <p:nvPr/>
        </p:nvSpPr>
        <p:spPr>
          <a:xfrm>
            <a:off x="812785" y="6238214"/>
            <a:ext cx="9810676" cy="23875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9B6CC"/>
                </a:solidFill>
                <a:latin typeface="Inter" pitchFamily="34" charset="0"/>
                <a:ea typeface="Inter" pitchFamily="34" charset="-122"/>
                <a:cs typeface="Inter" pitchFamily="34" charset="-120"/>
              </a:rPr>
              <a:t>Pune, Maharashtra · Founded 2023 · Prepared by the Anvexa Founding Team</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3EC"/>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785" y="812785"/>
            <a:ext cx="10883348" cy="444471"/>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0E1A2F"/>
                </a:solidFill>
                <a:latin typeface="Sora" pitchFamily="34" charset="0"/>
                <a:ea typeface="Sora" pitchFamily="34" charset="-122"/>
                <a:cs typeface="Sora" pitchFamily="34" charset="-120"/>
              </a:rPr>
              <a:t>Our Mission</a:t>
            </a:r>
            <a:endParaRPr lang="en-US" sz="3000" dirty="0"/>
          </a:p>
        </p:txBody>
      </p:sp>
      <p:sp>
        <p:nvSpPr>
          <p:cNvPr id="3" name="Text 1"/>
          <p:cNvSpPr/>
          <p:nvPr/>
        </p:nvSpPr>
        <p:spPr>
          <a:xfrm>
            <a:off x="812785" y="1485783"/>
            <a:ext cx="9941486" cy="1676400"/>
          </a:xfrm>
          <a:prstGeom prst="rect">
            <a:avLst/>
          </a:prstGeom>
          <a:noFill/>
          <a:ln/>
        </p:spPr>
        <p:txBody>
          <a:bodyPr wrap="square" lIns="0" tIns="0" rIns="0" bIns="0" rtlCol="0" anchor="t">
            <a:normAutofit/>
          </a:bodyPr>
          <a:lstStyle/>
          <a:p>
            <a:pPr marL="0" indent="0" algn="l">
              <a:lnSpc>
                <a:spcPts val="3250"/>
              </a:lnSpc>
              <a:buNone/>
            </a:pPr>
            <a:r>
              <a:rPr lang="en-US" sz="2500" b="1" dirty="0">
                <a:solidFill>
                  <a:srgbClr val="0E1A2F"/>
                </a:solidFill>
                <a:latin typeface="Sora" pitchFamily="34" charset="0"/>
                <a:ea typeface="Sora" pitchFamily="34" charset="-122"/>
                <a:cs typeface="Sora" pitchFamily="34" charset="-120"/>
              </a:rPr>
              <a:t>To empower medium and large enterprises with secure, scalable, and intelligent technology solutions that accelerate digital transformation, enhance operational efficiency, and drive sustainable business growth.</a:t>
            </a:r>
            <a:endParaRPr lang="en-US" sz="2500" dirty="0"/>
          </a:p>
        </p:txBody>
      </p:sp>
      <p:sp>
        <p:nvSpPr>
          <p:cNvPr id="4" name="Text 2"/>
          <p:cNvSpPr/>
          <p:nvPr/>
        </p:nvSpPr>
        <p:spPr>
          <a:xfrm>
            <a:off x="815960" y="3393884"/>
            <a:ext cx="2482865" cy="587199"/>
          </a:xfrm>
          <a:prstGeom prst="roundRect">
            <a:avLst>
              <a:gd name="adj" fmla="val 16762"/>
            </a:avLst>
          </a:prstGeom>
          <a:solidFill>
            <a:srgbClr val="FFFFFF"/>
          </a:solidFill>
          <a:ln w="6350">
            <a:solidFill>
              <a:srgbClr val="E2DED2"/>
            </a:solidFill>
            <a:prstDash val="solid"/>
          </a:ln>
        </p:spPr>
        <p:txBody>
          <a:bodyPr wrap="square" lIns="150486" tIns="150501" rIns="86759" bIns="125072" rtlCol="0" anchor="t">
            <a:normAutofit/>
          </a:bodyPr>
          <a:lstStyle/>
          <a:p>
            <a:pPr marL="0" indent="0" algn="l">
              <a:lnSpc>
                <a:spcPts val="1800"/>
              </a:lnSpc>
              <a:buNone/>
            </a:pPr>
            <a:r>
              <a:rPr lang="en-US" sz="1500" b="1" dirty="0">
                <a:solidFill>
                  <a:srgbClr val="0F7F74"/>
                </a:solidFill>
                <a:latin typeface="Inter" pitchFamily="34" charset="0"/>
                <a:ea typeface="Inter" pitchFamily="34" charset="-122"/>
                <a:cs typeface="Inter" pitchFamily="34" charset="-120"/>
              </a:rPr>
              <a:t>Client-First Obsession</a:t>
            </a:r>
            <a:endParaRPr lang="en-US" sz="1500" dirty="0"/>
          </a:p>
        </p:txBody>
      </p:sp>
      <p:sp>
        <p:nvSpPr>
          <p:cNvPr id="5" name="Text 3"/>
          <p:cNvSpPr/>
          <p:nvPr/>
        </p:nvSpPr>
        <p:spPr>
          <a:xfrm>
            <a:off x="3508316" y="3393884"/>
            <a:ext cx="2482939" cy="587199"/>
          </a:xfrm>
          <a:prstGeom prst="roundRect">
            <a:avLst>
              <a:gd name="adj" fmla="val 16762"/>
            </a:avLst>
          </a:prstGeom>
          <a:solidFill>
            <a:srgbClr val="FFFFFF"/>
          </a:solidFill>
          <a:ln w="6350">
            <a:solidFill>
              <a:srgbClr val="E2DED2"/>
            </a:solidFill>
            <a:prstDash val="solid"/>
          </a:ln>
        </p:spPr>
        <p:txBody>
          <a:bodyPr wrap="square" lIns="150487" tIns="150501" rIns="86757" bIns="125072" rtlCol="0" anchor="t">
            <a:normAutofit/>
          </a:bodyPr>
          <a:lstStyle/>
          <a:p>
            <a:pPr marL="0" indent="0" algn="l">
              <a:lnSpc>
                <a:spcPts val="1800"/>
              </a:lnSpc>
              <a:buNone/>
            </a:pPr>
            <a:r>
              <a:rPr lang="en-US" sz="1500" b="1" dirty="0">
                <a:solidFill>
                  <a:srgbClr val="0F7F74"/>
                </a:solidFill>
                <a:latin typeface="Inter" pitchFamily="34" charset="0"/>
                <a:ea typeface="Inter" pitchFamily="34" charset="-122"/>
                <a:cs typeface="Inter" pitchFamily="34" charset="-120"/>
              </a:rPr>
              <a:t>Radical Transparency</a:t>
            </a:r>
            <a:endParaRPr lang="en-US" sz="1500" dirty="0"/>
          </a:p>
        </p:txBody>
      </p:sp>
      <p:sp>
        <p:nvSpPr>
          <p:cNvPr id="6" name="Text 4"/>
          <p:cNvSpPr/>
          <p:nvPr/>
        </p:nvSpPr>
        <p:spPr>
          <a:xfrm>
            <a:off x="6200746" y="3393884"/>
            <a:ext cx="2482865" cy="587199"/>
          </a:xfrm>
          <a:prstGeom prst="roundRect">
            <a:avLst>
              <a:gd name="adj" fmla="val 16762"/>
            </a:avLst>
          </a:prstGeom>
          <a:solidFill>
            <a:srgbClr val="FFFFFF"/>
          </a:solidFill>
          <a:ln w="6350">
            <a:solidFill>
              <a:srgbClr val="E2DED2"/>
            </a:solidFill>
            <a:prstDash val="solid"/>
          </a:ln>
        </p:spPr>
        <p:txBody>
          <a:bodyPr wrap="square" lIns="150487" tIns="150501" rIns="86759" bIns="125072" rtlCol="0" anchor="t">
            <a:normAutofit/>
          </a:bodyPr>
          <a:lstStyle/>
          <a:p>
            <a:pPr marL="0" indent="0" algn="l">
              <a:lnSpc>
                <a:spcPts val="1800"/>
              </a:lnSpc>
              <a:buNone/>
            </a:pPr>
            <a:r>
              <a:rPr lang="en-US" sz="1500" b="1" dirty="0">
                <a:solidFill>
                  <a:srgbClr val="0F7F74"/>
                </a:solidFill>
                <a:latin typeface="Inter" pitchFamily="34" charset="0"/>
                <a:ea typeface="Inter" pitchFamily="34" charset="-122"/>
                <a:cs typeface="Inter" pitchFamily="34" charset="-120"/>
              </a:rPr>
              <a:t>Relentless Execution</a:t>
            </a:r>
            <a:endParaRPr lang="en-US" sz="1500" dirty="0"/>
          </a:p>
        </p:txBody>
      </p:sp>
      <p:sp>
        <p:nvSpPr>
          <p:cNvPr id="7" name="Text 5"/>
          <p:cNvSpPr/>
          <p:nvPr/>
        </p:nvSpPr>
        <p:spPr>
          <a:xfrm>
            <a:off x="8893103" y="3393884"/>
            <a:ext cx="2482865" cy="587199"/>
          </a:xfrm>
          <a:prstGeom prst="roundRect">
            <a:avLst>
              <a:gd name="adj" fmla="val 16762"/>
            </a:avLst>
          </a:prstGeom>
          <a:solidFill>
            <a:srgbClr val="FFFFFF"/>
          </a:solidFill>
          <a:ln w="6350">
            <a:solidFill>
              <a:srgbClr val="E2DED2"/>
            </a:solidFill>
            <a:prstDash val="solid"/>
          </a:ln>
        </p:spPr>
        <p:txBody>
          <a:bodyPr wrap="square" lIns="150486" tIns="150501" rIns="86759" bIns="125072" rtlCol="0" anchor="t">
            <a:normAutofit/>
          </a:bodyPr>
          <a:lstStyle/>
          <a:p>
            <a:pPr marL="0" indent="0" algn="l">
              <a:lnSpc>
                <a:spcPts val="1800"/>
              </a:lnSpc>
              <a:buNone/>
            </a:pPr>
            <a:r>
              <a:rPr lang="en-US" sz="1500" b="1" dirty="0">
                <a:solidFill>
                  <a:srgbClr val="0F7F74"/>
                </a:solidFill>
                <a:latin typeface="Inter" pitchFamily="34" charset="0"/>
                <a:ea typeface="Inter" pitchFamily="34" charset="-122"/>
                <a:cs typeface="Inter" pitchFamily="34" charset="-120"/>
              </a:rPr>
              <a:t>Continuous Innovation</a:t>
            </a:r>
            <a:endParaRPr lang="en-US" sz="1500" dirty="0"/>
          </a:p>
        </p:txBody>
      </p:sp>
      <p:sp>
        <p:nvSpPr>
          <p:cNvPr id="8" name="Text 6"/>
          <p:cNvSpPr/>
          <p:nvPr/>
        </p:nvSpPr>
        <p:spPr>
          <a:xfrm>
            <a:off x="812785" y="6238215"/>
            <a:ext cx="5886375" cy="23875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07A"/>
                </a:solidFill>
                <a:latin typeface="Inter" pitchFamily="34" charset="0"/>
                <a:ea typeface="Inter" pitchFamily="34" charset="-122"/>
                <a:cs typeface="Inter" pitchFamily="34" charset="-120"/>
              </a:rPr>
              <a:t>Anvexa · Investor Pitch</a:t>
            </a:r>
            <a:endParaRPr lang="en-US" sz="1200" dirty="0"/>
          </a:p>
        </p:txBody>
      </p:sp>
      <p:sp>
        <p:nvSpPr>
          <p:cNvPr id="9" name="Text 7"/>
          <p:cNvSpPr/>
          <p:nvPr/>
        </p:nvSpPr>
        <p:spPr>
          <a:xfrm>
            <a:off x="10693416" y="6238215"/>
            <a:ext cx="685727" cy="238757"/>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5607A"/>
                </a:solidFill>
                <a:latin typeface="Inter" pitchFamily="34" charset="0"/>
                <a:ea typeface="Inter" pitchFamily="34" charset="-122"/>
                <a:cs typeface="Inter"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FB6A6"/>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785" y="812786"/>
            <a:ext cx="10883348" cy="444471"/>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0E1A2F"/>
                </a:solidFill>
                <a:latin typeface="Sora" pitchFamily="34" charset="0"/>
                <a:ea typeface="Sora" pitchFamily="34" charset="-122"/>
                <a:cs typeface="Sora" pitchFamily="34" charset="-120"/>
              </a:rPr>
              <a:t>Our Vision</a:t>
            </a:r>
            <a:endParaRPr lang="en-US" sz="3000" dirty="0"/>
          </a:p>
        </p:txBody>
      </p:sp>
      <p:sp>
        <p:nvSpPr>
          <p:cNvPr id="3" name="Text 1"/>
          <p:cNvSpPr/>
          <p:nvPr/>
        </p:nvSpPr>
        <p:spPr>
          <a:xfrm>
            <a:off x="812785" y="1485784"/>
            <a:ext cx="9941486" cy="1454150"/>
          </a:xfrm>
          <a:prstGeom prst="rect">
            <a:avLst/>
          </a:prstGeom>
          <a:noFill/>
          <a:ln/>
        </p:spPr>
        <p:txBody>
          <a:bodyPr wrap="square" lIns="0" tIns="0" rIns="0" bIns="0" rtlCol="0" anchor="t">
            <a:normAutofit/>
          </a:bodyPr>
          <a:lstStyle/>
          <a:p>
            <a:pPr marL="0" indent="0" algn="l">
              <a:lnSpc>
                <a:spcPts val="3750"/>
              </a:lnSpc>
              <a:buNone/>
            </a:pPr>
            <a:r>
              <a:rPr lang="en-US" sz="3000" b="1" dirty="0">
                <a:solidFill>
                  <a:srgbClr val="0E1A2F"/>
                </a:solidFill>
                <a:latin typeface="Sora" pitchFamily="34" charset="0"/>
                <a:ea typeface="Sora" pitchFamily="34" charset="-122"/>
                <a:cs typeface="Sora" pitchFamily="34" charset="-120"/>
              </a:rPr>
              <a:t>To become India’s most trusted technology transformation partner for the mid-market economy by 2030.</a:t>
            </a:r>
            <a:endParaRPr lang="en-US" sz="3000" dirty="0"/>
          </a:p>
        </p:txBody>
      </p:sp>
      <p:sp>
        <p:nvSpPr>
          <p:cNvPr id="4" name="Shape 2"/>
          <p:cNvSpPr/>
          <p:nvPr/>
        </p:nvSpPr>
        <p:spPr>
          <a:xfrm>
            <a:off x="812785" y="3168459"/>
            <a:ext cx="3386667" cy="1401851"/>
          </a:xfrm>
          <a:prstGeom prst="roundRect">
            <a:avLst>
              <a:gd name="adj" fmla="val 7248"/>
            </a:avLst>
          </a:prstGeom>
          <a:solidFill>
            <a:srgbClr val="0E1A2F"/>
          </a:solidFill>
          <a:ln/>
        </p:spPr>
      </p:sp>
      <p:sp>
        <p:nvSpPr>
          <p:cNvPr id="5" name="Text 3"/>
          <p:cNvSpPr/>
          <p:nvPr/>
        </p:nvSpPr>
        <p:spPr>
          <a:xfrm>
            <a:off x="990571" y="3346245"/>
            <a:ext cx="3122029" cy="558756"/>
          </a:xfrm>
          <a:prstGeom prst="rect">
            <a:avLst/>
          </a:prstGeom>
          <a:noFill/>
          <a:ln/>
        </p:spPr>
        <p:txBody>
          <a:bodyPr wrap="square" lIns="0" tIns="0" rIns="0" bIns="0" rtlCol="0" anchor="t">
            <a:normAutofit/>
          </a:bodyPr>
          <a:lstStyle/>
          <a:p>
            <a:pPr marL="0" indent="0" algn="l">
              <a:lnSpc>
                <a:spcPts val="4200"/>
              </a:lnSpc>
              <a:buNone/>
            </a:pPr>
            <a:r>
              <a:rPr lang="en-US" sz="3000" b="1" dirty="0">
                <a:solidFill>
                  <a:srgbClr val="F2A33A"/>
                </a:solidFill>
                <a:latin typeface="Sora" pitchFamily="34" charset="0"/>
                <a:ea typeface="Sora" pitchFamily="34" charset="-122"/>
                <a:cs typeface="Sora" pitchFamily="34" charset="-120"/>
              </a:rPr>
              <a:t>63M+</a:t>
            </a:r>
            <a:endParaRPr lang="en-US" sz="3000" dirty="0"/>
          </a:p>
        </p:txBody>
      </p:sp>
      <p:sp>
        <p:nvSpPr>
          <p:cNvPr id="6" name="Text 4"/>
          <p:cNvSpPr/>
          <p:nvPr/>
        </p:nvSpPr>
        <p:spPr>
          <a:xfrm>
            <a:off x="990571" y="3930386"/>
            <a:ext cx="3122029" cy="48753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C9D3E3"/>
                </a:solidFill>
                <a:latin typeface="Inter" pitchFamily="34" charset="0"/>
                <a:ea typeface="Inter" pitchFamily="34" charset="-122"/>
                <a:cs typeface="Inter" pitchFamily="34" charset="-120"/>
              </a:rPr>
              <a:t>SMEs in India needing affordable technology</a:t>
            </a:r>
            <a:endParaRPr lang="en-US" sz="1300" dirty="0"/>
          </a:p>
        </p:txBody>
      </p:sp>
      <p:sp>
        <p:nvSpPr>
          <p:cNvPr id="7" name="Shape 5"/>
          <p:cNvSpPr/>
          <p:nvPr/>
        </p:nvSpPr>
        <p:spPr>
          <a:xfrm>
            <a:off x="4402594" y="3168459"/>
            <a:ext cx="3386741" cy="1401851"/>
          </a:xfrm>
          <a:prstGeom prst="roundRect">
            <a:avLst>
              <a:gd name="adj" fmla="val 7248"/>
            </a:avLst>
          </a:prstGeom>
          <a:solidFill>
            <a:srgbClr val="0E1A2F"/>
          </a:solidFill>
          <a:ln/>
        </p:spPr>
      </p:sp>
      <p:sp>
        <p:nvSpPr>
          <p:cNvPr id="8" name="Text 6"/>
          <p:cNvSpPr/>
          <p:nvPr/>
        </p:nvSpPr>
        <p:spPr>
          <a:xfrm>
            <a:off x="4580379" y="3346245"/>
            <a:ext cx="3122105" cy="558756"/>
          </a:xfrm>
          <a:prstGeom prst="rect">
            <a:avLst/>
          </a:prstGeom>
          <a:noFill/>
          <a:ln/>
        </p:spPr>
        <p:txBody>
          <a:bodyPr wrap="square" lIns="0" tIns="0" rIns="0" bIns="0" rtlCol="0" anchor="t">
            <a:normAutofit/>
          </a:bodyPr>
          <a:lstStyle/>
          <a:p>
            <a:pPr marL="0" indent="0" algn="l">
              <a:lnSpc>
                <a:spcPts val="4200"/>
              </a:lnSpc>
              <a:buNone/>
            </a:pPr>
            <a:r>
              <a:rPr lang="en-US" sz="3000" b="1" dirty="0">
                <a:solidFill>
                  <a:srgbClr val="F2A33A"/>
                </a:solidFill>
                <a:latin typeface="Sora" pitchFamily="34" charset="0"/>
                <a:ea typeface="Sora" pitchFamily="34" charset="-122"/>
                <a:cs typeface="Sora" pitchFamily="34" charset="-120"/>
              </a:rPr>
              <a:t>~30%</a:t>
            </a:r>
            <a:endParaRPr lang="en-US" sz="3000" dirty="0"/>
          </a:p>
        </p:txBody>
      </p:sp>
      <p:sp>
        <p:nvSpPr>
          <p:cNvPr id="9" name="Text 7"/>
          <p:cNvSpPr/>
          <p:nvPr/>
        </p:nvSpPr>
        <p:spPr>
          <a:xfrm>
            <a:off x="4580379" y="3930386"/>
            <a:ext cx="3122105" cy="25646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C9D3E3"/>
                </a:solidFill>
                <a:latin typeface="Inter" pitchFamily="34" charset="0"/>
                <a:ea typeface="Inter" pitchFamily="34" charset="-122"/>
                <a:cs typeface="Inter" pitchFamily="34" charset="-120"/>
              </a:rPr>
              <a:t>of India’s GDP comes from SMEs</a:t>
            </a:r>
            <a:endParaRPr lang="en-US" sz="1300" dirty="0"/>
          </a:p>
        </p:txBody>
      </p:sp>
      <p:sp>
        <p:nvSpPr>
          <p:cNvPr id="10" name="Shape 8"/>
          <p:cNvSpPr/>
          <p:nvPr/>
        </p:nvSpPr>
        <p:spPr>
          <a:xfrm>
            <a:off x="7992476" y="3168459"/>
            <a:ext cx="3386667" cy="1401851"/>
          </a:xfrm>
          <a:prstGeom prst="roundRect">
            <a:avLst>
              <a:gd name="adj" fmla="val 7248"/>
            </a:avLst>
          </a:prstGeom>
          <a:solidFill>
            <a:srgbClr val="0E1A2F"/>
          </a:solidFill>
          <a:ln/>
        </p:spPr>
      </p:sp>
      <p:sp>
        <p:nvSpPr>
          <p:cNvPr id="11" name="Text 9"/>
          <p:cNvSpPr/>
          <p:nvPr/>
        </p:nvSpPr>
        <p:spPr>
          <a:xfrm>
            <a:off x="8170261" y="3346245"/>
            <a:ext cx="3122029" cy="558756"/>
          </a:xfrm>
          <a:prstGeom prst="rect">
            <a:avLst/>
          </a:prstGeom>
          <a:noFill/>
          <a:ln/>
        </p:spPr>
        <p:txBody>
          <a:bodyPr wrap="square" lIns="0" tIns="0" rIns="0" bIns="0" rtlCol="0" anchor="t">
            <a:normAutofit/>
          </a:bodyPr>
          <a:lstStyle/>
          <a:p>
            <a:pPr marL="0" indent="0" algn="l">
              <a:lnSpc>
                <a:spcPts val="4200"/>
              </a:lnSpc>
              <a:buNone/>
            </a:pPr>
            <a:r>
              <a:rPr lang="en-US" sz="3000" b="1" dirty="0">
                <a:solidFill>
                  <a:srgbClr val="F2A33A"/>
                </a:solidFill>
                <a:latin typeface="Sora" pitchFamily="34" charset="0"/>
                <a:ea typeface="Sora" pitchFamily="34" charset="-122"/>
                <a:cs typeface="Sora" pitchFamily="34" charset="-120"/>
              </a:rPr>
              <a:t>$85B</a:t>
            </a:r>
            <a:endParaRPr lang="en-US" sz="3000" dirty="0"/>
          </a:p>
        </p:txBody>
      </p:sp>
      <p:sp>
        <p:nvSpPr>
          <p:cNvPr id="12" name="Text 10"/>
          <p:cNvSpPr/>
          <p:nvPr/>
        </p:nvSpPr>
        <p:spPr>
          <a:xfrm>
            <a:off x="8170261" y="3930386"/>
            <a:ext cx="3122029" cy="25646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C9D3E3"/>
                </a:solidFill>
                <a:latin typeface="Inter" pitchFamily="34" charset="0"/>
                <a:ea typeface="Inter" pitchFamily="34" charset="-122"/>
                <a:cs typeface="Inter" pitchFamily="34" charset="-120"/>
              </a:rPr>
              <a:t>projected SME digital spend by 2028</a:t>
            </a:r>
            <a:endParaRPr lang="en-US" sz="1300" dirty="0"/>
          </a:p>
        </p:txBody>
      </p:sp>
      <p:sp>
        <p:nvSpPr>
          <p:cNvPr id="13" name="Text 11"/>
          <p:cNvSpPr/>
          <p:nvPr/>
        </p:nvSpPr>
        <p:spPr>
          <a:xfrm>
            <a:off x="812785" y="6238215"/>
            <a:ext cx="5886375" cy="23875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E1A2F"/>
                </a:solidFill>
                <a:latin typeface="Inter" pitchFamily="34" charset="0"/>
                <a:ea typeface="Inter" pitchFamily="34" charset="-122"/>
                <a:cs typeface="Inter" pitchFamily="34" charset="-120"/>
              </a:rPr>
              <a:t>Anvexa · Investor Pitch</a:t>
            </a:r>
            <a:endParaRPr lang="en-US" sz="1200" dirty="0"/>
          </a:p>
        </p:txBody>
      </p:sp>
      <p:sp>
        <p:nvSpPr>
          <p:cNvPr id="14" name="Text 12"/>
          <p:cNvSpPr/>
          <p:nvPr/>
        </p:nvSpPr>
        <p:spPr>
          <a:xfrm>
            <a:off x="10693416" y="6238215"/>
            <a:ext cx="685727" cy="238757"/>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0E1A2F"/>
                </a:solidFill>
                <a:latin typeface="Inter" pitchFamily="34" charset="0"/>
                <a:ea typeface="Inter" pitchFamily="34" charset="-122"/>
                <a:cs typeface="Inter"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3EC"/>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785" y="812786"/>
            <a:ext cx="10883348" cy="444471"/>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0E1A2F"/>
                </a:solidFill>
                <a:latin typeface="Sora" pitchFamily="34" charset="0"/>
                <a:ea typeface="Sora" pitchFamily="34" charset="-122"/>
                <a:cs typeface="Sora" pitchFamily="34" charset="-120"/>
              </a:rPr>
              <a:t>Summary</a:t>
            </a:r>
            <a:endParaRPr lang="en-US" sz="3000" dirty="0"/>
          </a:p>
        </p:txBody>
      </p:sp>
      <p:sp>
        <p:nvSpPr>
          <p:cNvPr id="3" name="Shape 1"/>
          <p:cNvSpPr/>
          <p:nvPr/>
        </p:nvSpPr>
        <p:spPr>
          <a:xfrm>
            <a:off x="815960" y="1438173"/>
            <a:ext cx="3380317" cy="1316567"/>
          </a:xfrm>
          <a:prstGeom prst="roundRect">
            <a:avLst>
              <a:gd name="adj" fmla="val 7476"/>
            </a:avLst>
          </a:prstGeom>
          <a:solidFill>
            <a:srgbClr val="FFFFFF"/>
          </a:solidFill>
          <a:ln w="6350">
            <a:solidFill>
              <a:srgbClr val="E2DED2"/>
            </a:solidFill>
            <a:prstDash val="solid"/>
          </a:ln>
        </p:spPr>
      </p:sp>
      <p:sp>
        <p:nvSpPr>
          <p:cNvPr id="4" name="Text 2"/>
          <p:cNvSpPr/>
          <p:nvPr/>
        </p:nvSpPr>
        <p:spPr>
          <a:xfrm>
            <a:off x="995274" y="1617487"/>
            <a:ext cx="3112340" cy="238684"/>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F7F74"/>
                </a:solidFill>
                <a:latin typeface="Inter" pitchFamily="34" charset="0"/>
                <a:ea typeface="Inter" pitchFamily="34" charset="-122"/>
                <a:cs typeface="Inter" pitchFamily="34" charset="-120"/>
              </a:rPr>
              <a:t>Who we are</a:t>
            </a:r>
            <a:endParaRPr lang="en-US" sz="1400" dirty="0"/>
          </a:p>
        </p:txBody>
      </p:sp>
      <p:sp>
        <p:nvSpPr>
          <p:cNvPr id="5" name="Text 3"/>
          <p:cNvSpPr/>
          <p:nvPr/>
        </p:nvSpPr>
        <p:spPr>
          <a:xfrm>
            <a:off x="995274" y="1906912"/>
            <a:ext cx="3112340" cy="693914"/>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2B3A55"/>
                </a:solidFill>
                <a:latin typeface="Inter" pitchFamily="34" charset="0"/>
                <a:ea typeface="Inter" pitchFamily="34" charset="-122"/>
                <a:cs typeface="Inter" pitchFamily="34" charset="-120"/>
              </a:rPr>
              <a:t>Pune-based B2B technology company founded in 2023, integrating AI, cloud and business systems.</a:t>
            </a:r>
            <a:endParaRPr lang="en-US" sz="1300" dirty="0"/>
          </a:p>
        </p:txBody>
      </p:sp>
      <p:sp>
        <p:nvSpPr>
          <p:cNvPr id="6" name="Shape 4"/>
          <p:cNvSpPr/>
          <p:nvPr/>
        </p:nvSpPr>
        <p:spPr>
          <a:xfrm>
            <a:off x="4405769" y="1438173"/>
            <a:ext cx="3380317" cy="1316567"/>
          </a:xfrm>
          <a:prstGeom prst="roundRect">
            <a:avLst>
              <a:gd name="adj" fmla="val 7476"/>
            </a:avLst>
          </a:prstGeom>
          <a:solidFill>
            <a:srgbClr val="FFFFFF"/>
          </a:solidFill>
          <a:ln w="6350">
            <a:solidFill>
              <a:srgbClr val="E2DED2"/>
            </a:solidFill>
            <a:prstDash val="solid"/>
          </a:ln>
        </p:spPr>
      </p:sp>
      <p:sp>
        <p:nvSpPr>
          <p:cNvPr id="7" name="Text 5"/>
          <p:cNvSpPr/>
          <p:nvPr/>
        </p:nvSpPr>
        <p:spPr>
          <a:xfrm>
            <a:off x="4585083" y="1617487"/>
            <a:ext cx="3112340" cy="238684"/>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F7F74"/>
                </a:solidFill>
                <a:latin typeface="Inter" pitchFamily="34" charset="0"/>
                <a:ea typeface="Inter" pitchFamily="34" charset="-122"/>
                <a:cs typeface="Inter" pitchFamily="34" charset="-120"/>
              </a:rPr>
              <a:t>Market opportunity</a:t>
            </a:r>
            <a:endParaRPr lang="en-US" sz="1400" dirty="0"/>
          </a:p>
        </p:txBody>
      </p:sp>
      <p:sp>
        <p:nvSpPr>
          <p:cNvPr id="8" name="Text 6"/>
          <p:cNvSpPr/>
          <p:nvPr/>
        </p:nvSpPr>
        <p:spPr>
          <a:xfrm>
            <a:off x="4585083" y="1906912"/>
            <a:ext cx="3112340" cy="693914"/>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2B3A55"/>
                </a:solidFill>
                <a:latin typeface="Inter" pitchFamily="34" charset="0"/>
                <a:ea typeface="Inter" pitchFamily="34" charset="-122"/>
                <a:cs typeface="Inter" pitchFamily="34" charset="-120"/>
              </a:rPr>
              <a:t>63M+ SMEs rely on manual, insecure tools. SME digital spend will reach $85B by 2028 (TAM ₹65,000 Cr).</a:t>
            </a:r>
            <a:endParaRPr lang="en-US" sz="1300" dirty="0"/>
          </a:p>
        </p:txBody>
      </p:sp>
      <p:sp>
        <p:nvSpPr>
          <p:cNvPr id="9" name="Shape 7"/>
          <p:cNvSpPr/>
          <p:nvPr/>
        </p:nvSpPr>
        <p:spPr>
          <a:xfrm>
            <a:off x="7995577" y="1438173"/>
            <a:ext cx="3380317" cy="1316567"/>
          </a:xfrm>
          <a:prstGeom prst="roundRect">
            <a:avLst>
              <a:gd name="adj" fmla="val 7476"/>
            </a:avLst>
          </a:prstGeom>
          <a:solidFill>
            <a:srgbClr val="FFFFFF"/>
          </a:solidFill>
          <a:ln w="6350">
            <a:solidFill>
              <a:srgbClr val="E2DED2"/>
            </a:solidFill>
            <a:prstDash val="solid"/>
          </a:ln>
        </p:spPr>
      </p:sp>
      <p:sp>
        <p:nvSpPr>
          <p:cNvPr id="10" name="Text 8"/>
          <p:cNvSpPr/>
          <p:nvPr/>
        </p:nvSpPr>
        <p:spPr>
          <a:xfrm>
            <a:off x="8174891" y="1617487"/>
            <a:ext cx="3112340" cy="238684"/>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F7F74"/>
                </a:solidFill>
                <a:latin typeface="Inter" pitchFamily="34" charset="0"/>
                <a:ea typeface="Inter" pitchFamily="34" charset="-122"/>
                <a:cs typeface="Inter" pitchFamily="34" charset="-120"/>
              </a:rPr>
              <a:t>Our solution</a:t>
            </a:r>
            <a:endParaRPr lang="en-US" sz="1400" dirty="0"/>
          </a:p>
        </p:txBody>
      </p:sp>
      <p:sp>
        <p:nvSpPr>
          <p:cNvPr id="11" name="Text 9"/>
          <p:cNvSpPr/>
          <p:nvPr/>
        </p:nvSpPr>
        <p:spPr>
          <a:xfrm>
            <a:off x="8174891" y="1906912"/>
            <a:ext cx="3112340" cy="693914"/>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2B3A55"/>
                </a:solidFill>
                <a:latin typeface="Inter" pitchFamily="34" charset="0"/>
                <a:ea typeface="Inter" pitchFamily="34" charset="-122"/>
                <a:cs typeface="Inter" pitchFamily="34" charset="-120"/>
              </a:rPr>
              <a:t>One connected platform: dashboard, easy cloud migration, built-in cybersecurity and AI periodic reports.</a:t>
            </a:r>
            <a:endParaRPr lang="en-US" sz="1300" dirty="0"/>
          </a:p>
        </p:txBody>
      </p:sp>
      <p:sp>
        <p:nvSpPr>
          <p:cNvPr id="12" name="Shape 10"/>
          <p:cNvSpPr/>
          <p:nvPr/>
        </p:nvSpPr>
        <p:spPr>
          <a:xfrm>
            <a:off x="815960" y="2964231"/>
            <a:ext cx="3380317" cy="1539405"/>
          </a:xfrm>
          <a:prstGeom prst="roundRect">
            <a:avLst>
              <a:gd name="adj" fmla="val 6394"/>
            </a:avLst>
          </a:prstGeom>
          <a:solidFill>
            <a:srgbClr val="FFFFFF"/>
          </a:solidFill>
          <a:ln w="6350">
            <a:solidFill>
              <a:srgbClr val="E2DED2"/>
            </a:solidFill>
            <a:prstDash val="solid"/>
          </a:ln>
        </p:spPr>
      </p:sp>
      <p:sp>
        <p:nvSpPr>
          <p:cNvPr id="13" name="Text 11"/>
          <p:cNvSpPr/>
          <p:nvPr/>
        </p:nvSpPr>
        <p:spPr>
          <a:xfrm>
            <a:off x="995274" y="3143545"/>
            <a:ext cx="3112340" cy="238684"/>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F7F74"/>
                </a:solidFill>
                <a:latin typeface="Inter" pitchFamily="34" charset="0"/>
                <a:ea typeface="Inter" pitchFamily="34" charset="-122"/>
                <a:cs typeface="Inter" pitchFamily="34" charset="-120"/>
              </a:rPr>
              <a:t>Growth</a:t>
            </a:r>
            <a:endParaRPr lang="en-US" sz="1400" dirty="0"/>
          </a:p>
        </p:txBody>
      </p:sp>
      <p:sp>
        <p:nvSpPr>
          <p:cNvPr id="14" name="Text 12"/>
          <p:cNvSpPr/>
          <p:nvPr/>
        </p:nvSpPr>
        <p:spPr>
          <a:xfrm>
            <a:off x="995274" y="3432970"/>
            <a:ext cx="3112340" cy="693914"/>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2B3A55"/>
                </a:solidFill>
                <a:latin typeface="Inter" pitchFamily="34" charset="0"/>
                <a:ea typeface="Inter" pitchFamily="34" charset="-122"/>
                <a:cs typeface="Inter" pitchFamily="34" charset="-120"/>
              </a:rPr>
              <a:t>45+ projects, 32 recurring clients, ₹6.20 Cr three-year revenue, 58% gross margin, profitable every year.</a:t>
            </a:r>
            <a:endParaRPr lang="en-US" sz="1300" dirty="0"/>
          </a:p>
        </p:txBody>
      </p:sp>
      <p:sp>
        <p:nvSpPr>
          <p:cNvPr id="15" name="Shape 13"/>
          <p:cNvSpPr/>
          <p:nvPr/>
        </p:nvSpPr>
        <p:spPr>
          <a:xfrm>
            <a:off x="4405769" y="2964231"/>
            <a:ext cx="3380317" cy="1539405"/>
          </a:xfrm>
          <a:prstGeom prst="roundRect">
            <a:avLst>
              <a:gd name="adj" fmla="val 6394"/>
            </a:avLst>
          </a:prstGeom>
          <a:solidFill>
            <a:srgbClr val="FFFFFF"/>
          </a:solidFill>
          <a:ln w="6350">
            <a:solidFill>
              <a:srgbClr val="E2DED2"/>
            </a:solidFill>
            <a:prstDash val="solid"/>
          </a:ln>
        </p:spPr>
      </p:sp>
      <p:sp>
        <p:nvSpPr>
          <p:cNvPr id="16" name="Text 14"/>
          <p:cNvSpPr/>
          <p:nvPr/>
        </p:nvSpPr>
        <p:spPr>
          <a:xfrm>
            <a:off x="4585083" y="3143545"/>
            <a:ext cx="3112340" cy="238684"/>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F7F74"/>
                </a:solidFill>
                <a:latin typeface="Inter" pitchFamily="34" charset="0"/>
                <a:ea typeface="Inter" pitchFamily="34" charset="-122"/>
                <a:cs typeface="Inter" pitchFamily="34" charset="-120"/>
              </a:rPr>
              <a:t>Business model</a:t>
            </a:r>
            <a:endParaRPr lang="en-US" sz="1400" dirty="0"/>
          </a:p>
        </p:txBody>
      </p:sp>
      <p:sp>
        <p:nvSpPr>
          <p:cNvPr id="17" name="Text 15"/>
          <p:cNvSpPr/>
          <p:nvPr/>
        </p:nvSpPr>
        <p:spPr>
          <a:xfrm>
            <a:off x="4585083" y="3432970"/>
            <a:ext cx="3112340" cy="693914"/>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2B3A55"/>
                </a:solidFill>
                <a:latin typeface="Inter" pitchFamily="34" charset="0"/>
                <a:ea typeface="Inter" pitchFamily="34" charset="-122"/>
                <a:cs typeface="Inter" pitchFamily="34" charset="-120"/>
              </a:rPr>
              <a:t>Usage-based, pay-as-you-grow subscription with predictable recurring revenue.</a:t>
            </a:r>
            <a:endParaRPr lang="en-US" sz="1300" dirty="0"/>
          </a:p>
        </p:txBody>
      </p:sp>
      <p:sp>
        <p:nvSpPr>
          <p:cNvPr id="18" name="Shape 16"/>
          <p:cNvSpPr/>
          <p:nvPr/>
        </p:nvSpPr>
        <p:spPr>
          <a:xfrm>
            <a:off x="7995577" y="2964231"/>
            <a:ext cx="3380317" cy="1539405"/>
          </a:xfrm>
          <a:prstGeom prst="roundRect">
            <a:avLst>
              <a:gd name="adj" fmla="val 6394"/>
            </a:avLst>
          </a:prstGeom>
          <a:solidFill>
            <a:srgbClr val="FFFFFF"/>
          </a:solidFill>
          <a:ln w="6350">
            <a:solidFill>
              <a:srgbClr val="E2DED2"/>
            </a:solidFill>
            <a:prstDash val="solid"/>
          </a:ln>
        </p:spPr>
      </p:sp>
      <p:sp>
        <p:nvSpPr>
          <p:cNvPr id="19" name="Text 17"/>
          <p:cNvSpPr/>
          <p:nvPr/>
        </p:nvSpPr>
        <p:spPr>
          <a:xfrm>
            <a:off x="8174891" y="3143545"/>
            <a:ext cx="3112340" cy="238684"/>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F7F74"/>
                </a:solidFill>
                <a:latin typeface="Inter" pitchFamily="34" charset="0"/>
                <a:ea typeface="Inter" pitchFamily="34" charset="-122"/>
                <a:cs typeface="Inter" pitchFamily="34" charset="-120"/>
              </a:rPr>
              <a:t>The ask</a:t>
            </a:r>
            <a:endParaRPr lang="en-US" sz="1400" dirty="0"/>
          </a:p>
        </p:txBody>
      </p:sp>
      <p:sp>
        <p:nvSpPr>
          <p:cNvPr id="20" name="Text 18"/>
          <p:cNvSpPr/>
          <p:nvPr/>
        </p:nvSpPr>
        <p:spPr>
          <a:xfrm>
            <a:off x="8174891" y="3432970"/>
            <a:ext cx="3112340" cy="916752"/>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2B3A55"/>
                </a:solidFill>
                <a:latin typeface="Inter" pitchFamily="34" charset="0"/>
                <a:ea typeface="Inter" pitchFamily="34" charset="-122"/>
                <a:cs typeface="Inter" pitchFamily="34" charset="-120"/>
              </a:rPr>
              <a:t>₹2 Cr for 16.67% equity at ₹12 Cr post-money, to strengthen AI, Cloud, Cybersecurity and Quantum readiness.</a:t>
            </a:r>
            <a:endParaRPr lang="en-US" sz="1300" dirty="0"/>
          </a:p>
        </p:txBody>
      </p:sp>
      <p:sp>
        <p:nvSpPr>
          <p:cNvPr id="21" name="Text 19"/>
          <p:cNvSpPr/>
          <p:nvPr/>
        </p:nvSpPr>
        <p:spPr>
          <a:xfrm>
            <a:off x="812785" y="6238216"/>
            <a:ext cx="5886375" cy="23875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07A"/>
                </a:solidFill>
                <a:latin typeface="Inter" pitchFamily="34" charset="0"/>
                <a:ea typeface="Inter" pitchFamily="34" charset="-122"/>
                <a:cs typeface="Inter" pitchFamily="34" charset="-120"/>
              </a:rPr>
              <a:t>Anvexa · Investor Pitch</a:t>
            </a:r>
            <a:endParaRPr lang="en-US" sz="1200" dirty="0"/>
          </a:p>
        </p:txBody>
      </p:sp>
      <p:sp>
        <p:nvSpPr>
          <p:cNvPr id="22" name="Text 20"/>
          <p:cNvSpPr/>
          <p:nvPr/>
        </p:nvSpPr>
        <p:spPr>
          <a:xfrm>
            <a:off x="10693416" y="6238216"/>
            <a:ext cx="685727" cy="238757"/>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5607A"/>
                </a:solidFill>
                <a:latin typeface="Inter" pitchFamily="34" charset="0"/>
                <a:ea typeface="Inter" pitchFamily="34" charset="-122"/>
                <a:cs typeface="Inter"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3EC"/>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785" y="812788"/>
            <a:ext cx="10883348" cy="444471"/>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0E1A2F"/>
                </a:solidFill>
                <a:latin typeface="Sora" pitchFamily="34" charset="0"/>
                <a:ea typeface="Sora" pitchFamily="34" charset="-122"/>
                <a:cs typeface="Sora" pitchFamily="34" charset="-120"/>
              </a:rPr>
              <a:t>Company Background</a:t>
            </a:r>
            <a:endParaRPr lang="en-US" sz="3000" dirty="0"/>
          </a:p>
        </p:txBody>
      </p:sp>
      <p:sp>
        <p:nvSpPr>
          <p:cNvPr id="3" name="Text 1"/>
          <p:cNvSpPr/>
          <p:nvPr/>
        </p:nvSpPr>
        <p:spPr>
          <a:xfrm>
            <a:off x="812785" y="1434998"/>
            <a:ext cx="4578275" cy="1873956"/>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2B3A55"/>
                </a:solidFill>
                <a:latin typeface="Inter" pitchFamily="34" charset="0"/>
                <a:ea typeface="Inter" pitchFamily="34" charset="-122"/>
                <a:cs typeface="Inter" pitchFamily="34" charset="-120"/>
              </a:rPr>
              <a:t>Founded in Pune in 2023, Anvexa grew from one observation across two sectors: retail distributors reconciling stock on paper ledgers, and IT services firms with fragmented project tracking and legacy infrastructure. Enterprise platforms were too costly and complex, while basic tools lacked security and scale. The team pooled their savings to build one unified, affordable platform.</a:t>
            </a:r>
            <a:endParaRPr lang="en-US" sz="1300" dirty="0"/>
          </a:p>
        </p:txBody>
      </p:sp>
      <p:sp>
        <p:nvSpPr>
          <p:cNvPr id="4" name="Text 2"/>
          <p:cNvSpPr/>
          <p:nvPr/>
        </p:nvSpPr>
        <p:spPr>
          <a:xfrm>
            <a:off x="812785" y="3435911"/>
            <a:ext cx="4578275" cy="487539"/>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F7F74"/>
                </a:solidFill>
                <a:latin typeface="Inter" pitchFamily="34" charset="0"/>
                <a:ea typeface="Inter" pitchFamily="34" charset="-122"/>
                <a:cs typeface="Inter" pitchFamily="34" charset="-120"/>
              </a:rPr>
              <a:t>Client-First · Transparent · Relentless Execution · Continuous Innovation</a:t>
            </a:r>
            <a:endParaRPr lang="en-US" sz="1300" dirty="0"/>
          </a:p>
        </p:txBody>
      </p:sp>
      <p:sp>
        <p:nvSpPr>
          <p:cNvPr id="5" name="Shape 3"/>
          <p:cNvSpPr/>
          <p:nvPr/>
        </p:nvSpPr>
        <p:spPr>
          <a:xfrm>
            <a:off x="5565673" y="1438173"/>
            <a:ext cx="2838509" cy="719123"/>
          </a:xfrm>
          <a:prstGeom prst="roundRect">
            <a:avLst>
              <a:gd name="adj" fmla="val 13687"/>
            </a:avLst>
          </a:prstGeom>
          <a:solidFill>
            <a:srgbClr val="FFFFFF"/>
          </a:solidFill>
          <a:ln w="6350">
            <a:solidFill>
              <a:srgbClr val="E2DED2"/>
            </a:solidFill>
            <a:prstDash val="solid"/>
          </a:ln>
        </p:spPr>
      </p:sp>
      <p:sp>
        <p:nvSpPr>
          <p:cNvPr id="6" name="Text 4"/>
          <p:cNvSpPr/>
          <p:nvPr/>
        </p:nvSpPr>
        <p:spPr>
          <a:xfrm>
            <a:off x="5719557" y="1566630"/>
            <a:ext cx="2606662" cy="274255"/>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E1A2F"/>
                </a:solidFill>
                <a:latin typeface="Inter" pitchFamily="34" charset="0"/>
                <a:ea typeface="Inter" pitchFamily="34" charset="-122"/>
                <a:cs typeface="Inter" pitchFamily="34" charset="-120"/>
              </a:rPr>
              <a:t>Anish</a:t>
            </a:r>
            <a:endParaRPr lang="en-US" sz="1400" dirty="0"/>
          </a:p>
        </p:txBody>
      </p:sp>
      <p:sp>
        <p:nvSpPr>
          <p:cNvPr id="7" name="Text 5"/>
          <p:cNvSpPr/>
          <p:nvPr/>
        </p:nvSpPr>
        <p:spPr>
          <a:xfrm>
            <a:off x="5719557" y="1815483"/>
            <a:ext cx="2606662" cy="23875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07A"/>
                </a:solidFill>
                <a:latin typeface="Inter" pitchFamily="34" charset="0"/>
                <a:ea typeface="Inter" pitchFamily="34" charset="-122"/>
                <a:cs typeface="Inter" pitchFamily="34" charset="-120"/>
              </a:rPr>
              <a:t>CEO &amp; Co-Founder</a:t>
            </a:r>
            <a:endParaRPr lang="en-US" sz="1200" dirty="0"/>
          </a:p>
        </p:txBody>
      </p:sp>
      <p:sp>
        <p:nvSpPr>
          <p:cNvPr id="8" name="Shape 6"/>
          <p:cNvSpPr/>
          <p:nvPr/>
        </p:nvSpPr>
        <p:spPr>
          <a:xfrm>
            <a:off x="8537459" y="1438173"/>
            <a:ext cx="2838509" cy="719123"/>
          </a:xfrm>
          <a:prstGeom prst="roundRect">
            <a:avLst>
              <a:gd name="adj" fmla="val 13687"/>
            </a:avLst>
          </a:prstGeom>
          <a:solidFill>
            <a:srgbClr val="FFFFFF"/>
          </a:solidFill>
          <a:ln w="6350">
            <a:solidFill>
              <a:srgbClr val="E2DED2"/>
            </a:solidFill>
            <a:prstDash val="solid"/>
          </a:ln>
        </p:spPr>
      </p:sp>
      <p:sp>
        <p:nvSpPr>
          <p:cNvPr id="9" name="Text 7"/>
          <p:cNvSpPr/>
          <p:nvPr/>
        </p:nvSpPr>
        <p:spPr>
          <a:xfrm>
            <a:off x="8691343" y="1566630"/>
            <a:ext cx="2606662" cy="274255"/>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E1A2F"/>
                </a:solidFill>
                <a:latin typeface="Inter" pitchFamily="34" charset="0"/>
                <a:ea typeface="Inter" pitchFamily="34" charset="-122"/>
                <a:cs typeface="Inter" pitchFamily="34" charset="-120"/>
              </a:rPr>
              <a:t>Kaustubh</a:t>
            </a:r>
            <a:endParaRPr lang="en-US" sz="1400" dirty="0"/>
          </a:p>
        </p:txBody>
      </p:sp>
      <p:sp>
        <p:nvSpPr>
          <p:cNvPr id="10" name="Text 8"/>
          <p:cNvSpPr/>
          <p:nvPr/>
        </p:nvSpPr>
        <p:spPr>
          <a:xfrm>
            <a:off x="8691343" y="1815483"/>
            <a:ext cx="2606662" cy="23875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07A"/>
                </a:solidFill>
                <a:latin typeface="Inter" pitchFamily="34" charset="0"/>
                <a:ea typeface="Inter" pitchFamily="34" charset="-122"/>
                <a:cs typeface="Inter" pitchFamily="34" charset="-120"/>
              </a:rPr>
              <a:t>Head of Business Development</a:t>
            </a:r>
            <a:endParaRPr lang="en-US" sz="1200" dirty="0"/>
          </a:p>
        </p:txBody>
      </p:sp>
      <p:sp>
        <p:nvSpPr>
          <p:cNvPr id="11" name="Shape 9"/>
          <p:cNvSpPr/>
          <p:nvPr/>
        </p:nvSpPr>
        <p:spPr>
          <a:xfrm>
            <a:off x="5565673" y="2290573"/>
            <a:ext cx="2838509" cy="719123"/>
          </a:xfrm>
          <a:prstGeom prst="roundRect">
            <a:avLst>
              <a:gd name="adj" fmla="val 13687"/>
            </a:avLst>
          </a:prstGeom>
          <a:solidFill>
            <a:srgbClr val="FFFFFF"/>
          </a:solidFill>
          <a:ln w="6350">
            <a:solidFill>
              <a:srgbClr val="E2DED2"/>
            </a:solidFill>
            <a:prstDash val="solid"/>
          </a:ln>
        </p:spPr>
      </p:sp>
      <p:sp>
        <p:nvSpPr>
          <p:cNvPr id="12" name="Text 10"/>
          <p:cNvSpPr/>
          <p:nvPr/>
        </p:nvSpPr>
        <p:spPr>
          <a:xfrm>
            <a:off x="5719557" y="2419028"/>
            <a:ext cx="2606662" cy="274255"/>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E1A2F"/>
                </a:solidFill>
                <a:latin typeface="Inter" pitchFamily="34" charset="0"/>
                <a:ea typeface="Inter" pitchFamily="34" charset="-122"/>
                <a:cs typeface="Inter" pitchFamily="34" charset="-120"/>
              </a:rPr>
              <a:t>Piyush</a:t>
            </a:r>
            <a:endParaRPr lang="en-US" sz="1400" dirty="0"/>
          </a:p>
        </p:txBody>
      </p:sp>
      <p:sp>
        <p:nvSpPr>
          <p:cNvPr id="13" name="Text 11"/>
          <p:cNvSpPr/>
          <p:nvPr/>
        </p:nvSpPr>
        <p:spPr>
          <a:xfrm>
            <a:off x="5719557" y="2667884"/>
            <a:ext cx="2606662" cy="23875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07A"/>
                </a:solidFill>
                <a:latin typeface="Inter" pitchFamily="34" charset="0"/>
                <a:ea typeface="Inter" pitchFamily="34" charset="-122"/>
                <a:cs typeface="Inter" pitchFamily="34" charset="-120"/>
              </a:rPr>
              <a:t>Chief Marketing Officer</a:t>
            </a:r>
            <a:endParaRPr lang="en-US" sz="1200" dirty="0"/>
          </a:p>
        </p:txBody>
      </p:sp>
      <p:sp>
        <p:nvSpPr>
          <p:cNvPr id="14" name="Shape 12"/>
          <p:cNvSpPr/>
          <p:nvPr/>
        </p:nvSpPr>
        <p:spPr>
          <a:xfrm>
            <a:off x="8537459" y="2290573"/>
            <a:ext cx="2838509" cy="719123"/>
          </a:xfrm>
          <a:prstGeom prst="roundRect">
            <a:avLst>
              <a:gd name="adj" fmla="val 13687"/>
            </a:avLst>
          </a:prstGeom>
          <a:solidFill>
            <a:srgbClr val="FFFFFF"/>
          </a:solidFill>
          <a:ln w="6350">
            <a:solidFill>
              <a:srgbClr val="E2DED2"/>
            </a:solidFill>
            <a:prstDash val="solid"/>
          </a:ln>
        </p:spPr>
      </p:sp>
      <p:sp>
        <p:nvSpPr>
          <p:cNvPr id="15" name="Text 13"/>
          <p:cNvSpPr/>
          <p:nvPr/>
        </p:nvSpPr>
        <p:spPr>
          <a:xfrm>
            <a:off x="8691343" y="2419028"/>
            <a:ext cx="2606662" cy="274255"/>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E1A2F"/>
                </a:solidFill>
                <a:latin typeface="Inter" pitchFamily="34" charset="0"/>
                <a:ea typeface="Inter" pitchFamily="34" charset="-122"/>
                <a:cs typeface="Inter" pitchFamily="34" charset="-120"/>
              </a:rPr>
              <a:t>Gracy</a:t>
            </a:r>
            <a:endParaRPr lang="en-US" sz="1400" dirty="0"/>
          </a:p>
        </p:txBody>
      </p:sp>
      <p:sp>
        <p:nvSpPr>
          <p:cNvPr id="16" name="Text 14"/>
          <p:cNvSpPr/>
          <p:nvPr/>
        </p:nvSpPr>
        <p:spPr>
          <a:xfrm>
            <a:off x="8691343" y="2667884"/>
            <a:ext cx="2606662" cy="23875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07A"/>
                </a:solidFill>
                <a:latin typeface="Inter" pitchFamily="34" charset="0"/>
                <a:ea typeface="Inter" pitchFamily="34" charset="-122"/>
                <a:cs typeface="Inter" pitchFamily="34" charset="-120"/>
              </a:rPr>
              <a:t>Chief Product Officer</a:t>
            </a:r>
            <a:endParaRPr lang="en-US" sz="1200" dirty="0"/>
          </a:p>
        </p:txBody>
      </p:sp>
      <p:sp>
        <p:nvSpPr>
          <p:cNvPr id="17" name="Shape 15"/>
          <p:cNvSpPr/>
          <p:nvPr/>
        </p:nvSpPr>
        <p:spPr>
          <a:xfrm>
            <a:off x="5565673" y="3142971"/>
            <a:ext cx="2838509" cy="932480"/>
          </a:xfrm>
          <a:prstGeom prst="roundRect">
            <a:avLst>
              <a:gd name="adj" fmla="val 10555"/>
            </a:avLst>
          </a:prstGeom>
          <a:solidFill>
            <a:srgbClr val="FFFFFF"/>
          </a:solidFill>
          <a:ln w="6350">
            <a:solidFill>
              <a:srgbClr val="E2DED2"/>
            </a:solidFill>
            <a:prstDash val="solid"/>
          </a:ln>
        </p:spPr>
      </p:sp>
      <p:sp>
        <p:nvSpPr>
          <p:cNvPr id="18" name="Text 16"/>
          <p:cNvSpPr/>
          <p:nvPr/>
        </p:nvSpPr>
        <p:spPr>
          <a:xfrm>
            <a:off x="5719557" y="3271428"/>
            <a:ext cx="2606662" cy="274255"/>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E1A2F"/>
                </a:solidFill>
                <a:latin typeface="Inter" pitchFamily="34" charset="0"/>
                <a:ea typeface="Inter" pitchFamily="34" charset="-122"/>
                <a:cs typeface="Inter" pitchFamily="34" charset="-120"/>
              </a:rPr>
              <a:t>Ruth</a:t>
            </a:r>
            <a:endParaRPr lang="en-US" sz="1400" dirty="0"/>
          </a:p>
        </p:txBody>
      </p:sp>
      <p:sp>
        <p:nvSpPr>
          <p:cNvPr id="19" name="Text 17"/>
          <p:cNvSpPr/>
          <p:nvPr/>
        </p:nvSpPr>
        <p:spPr>
          <a:xfrm>
            <a:off x="5719557" y="3520281"/>
            <a:ext cx="2606662" cy="23875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07A"/>
                </a:solidFill>
                <a:latin typeface="Inter" pitchFamily="34" charset="0"/>
                <a:ea typeface="Inter" pitchFamily="34" charset="-122"/>
                <a:cs typeface="Inter" pitchFamily="34" charset="-120"/>
              </a:rPr>
              <a:t>Chief Technology Officer</a:t>
            </a:r>
            <a:endParaRPr lang="en-US" sz="1200" dirty="0"/>
          </a:p>
        </p:txBody>
      </p:sp>
      <p:sp>
        <p:nvSpPr>
          <p:cNvPr id="20" name="Shape 18"/>
          <p:cNvSpPr/>
          <p:nvPr/>
        </p:nvSpPr>
        <p:spPr>
          <a:xfrm>
            <a:off x="8537459" y="3142971"/>
            <a:ext cx="2838509" cy="932480"/>
          </a:xfrm>
          <a:prstGeom prst="roundRect">
            <a:avLst>
              <a:gd name="adj" fmla="val 10555"/>
            </a:avLst>
          </a:prstGeom>
          <a:solidFill>
            <a:srgbClr val="FFFFFF"/>
          </a:solidFill>
          <a:ln w="6350">
            <a:solidFill>
              <a:srgbClr val="E2DED2"/>
            </a:solidFill>
            <a:prstDash val="solid"/>
          </a:ln>
        </p:spPr>
      </p:sp>
      <p:sp>
        <p:nvSpPr>
          <p:cNvPr id="21" name="Text 19"/>
          <p:cNvSpPr/>
          <p:nvPr/>
        </p:nvSpPr>
        <p:spPr>
          <a:xfrm>
            <a:off x="8691343" y="3271428"/>
            <a:ext cx="2606662" cy="274255"/>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E1A2F"/>
                </a:solidFill>
                <a:latin typeface="Inter" pitchFamily="34" charset="0"/>
                <a:ea typeface="Inter" pitchFamily="34" charset="-122"/>
                <a:cs typeface="Inter" pitchFamily="34" charset="-120"/>
              </a:rPr>
              <a:t>Riyaz</a:t>
            </a:r>
            <a:endParaRPr lang="en-US" sz="1400" dirty="0"/>
          </a:p>
        </p:txBody>
      </p:sp>
      <p:sp>
        <p:nvSpPr>
          <p:cNvPr id="22" name="Text 20"/>
          <p:cNvSpPr/>
          <p:nvPr/>
        </p:nvSpPr>
        <p:spPr>
          <a:xfrm>
            <a:off x="8691343" y="3520281"/>
            <a:ext cx="2606662" cy="45211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07A"/>
                </a:solidFill>
                <a:latin typeface="Inter" pitchFamily="34" charset="0"/>
                <a:ea typeface="Inter" pitchFamily="34" charset="-122"/>
                <a:cs typeface="Inter" pitchFamily="34" charset="-120"/>
              </a:rPr>
              <a:t>Solutions Architect &amp; Cloud Strategy Lead</a:t>
            </a:r>
            <a:endParaRPr lang="en-US" sz="1200" dirty="0"/>
          </a:p>
        </p:txBody>
      </p:sp>
      <p:sp>
        <p:nvSpPr>
          <p:cNvPr id="23" name="Shape 21"/>
          <p:cNvSpPr/>
          <p:nvPr/>
        </p:nvSpPr>
        <p:spPr>
          <a:xfrm>
            <a:off x="5565673" y="4208729"/>
            <a:ext cx="2838509" cy="719123"/>
          </a:xfrm>
          <a:prstGeom prst="roundRect">
            <a:avLst>
              <a:gd name="adj" fmla="val 13687"/>
            </a:avLst>
          </a:prstGeom>
          <a:solidFill>
            <a:srgbClr val="FFFFFF"/>
          </a:solidFill>
          <a:ln w="6350">
            <a:solidFill>
              <a:srgbClr val="E2DED2"/>
            </a:solidFill>
            <a:prstDash val="solid"/>
          </a:ln>
        </p:spPr>
      </p:sp>
      <p:sp>
        <p:nvSpPr>
          <p:cNvPr id="24" name="Text 22"/>
          <p:cNvSpPr/>
          <p:nvPr/>
        </p:nvSpPr>
        <p:spPr>
          <a:xfrm>
            <a:off x="5719557" y="4337183"/>
            <a:ext cx="2606662" cy="274255"/>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E1A2F"/>
                </a:solidFill>
                <a:latin typeface="Inter" pitchFamily="34" charset="0"/>
                <a:ea typeface="Inter" pitchFamily="34" charset="-122"/>
                <a:cs typeface="Inter" pitchFamily="34" charset="-120"/>
              </a:rPr>
              <a:t>Nishant</a:t>
            </a:r>
            <a:endParaRPr lang="en-US" sz="1400" dirty="0"/>
          </a:p>
        </p:txBody>
      </p:sp>
      <p:sp>
        <p:nvSpPr>
          <p:cNvPr id="25" name="Text 23"/>
          <p:cNvSpPr/>
          <p:nvPr/>
        </p:nvSpPr>
        <p:spPr>
          <a:xfrm>
            <a:off x="5719557" y="4586039"/>
            <a:ext cx="2606662" cy="23875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07A"/>
                </a:solidFill>
                <a:latin typeface="Inter" pitchFamily="34" charset="0"/>
                <a:ea typeface="Inter" pitchFamily="34" charset="-122"/>
                <a:cs typeface="Inter" pitchFamily="34" charset="-120"/>
              </a:rPr>
              <a:t>Chief Financial Officer</a:t>
            </a:r>
            <a:endParaRPr lang="en-US" sz="1200" dirty="0"/>
          </a:p>
        </p:txBody>
      </p:sp>
      <p:sp>
        <p:nvSpPr>
          <p:cNvPr id="26" name="Shape 24"/>
          <p:cNvSpPr/>
          <p:nvPr/>
        </p:nvSpPr>
        <p:spPr>
          <a:xfrm>
            <a:off x="8537459" y="4208729"/>
            <a:ext cx="2838509" cy="719123"/>
          </a:xfrm>
          <a:prstGeom prst="roundRect">
            <a:avLst>
              <a:gd name="adj" fmla="val 13687"/>
            </a:avLst>
          </a:prstGeom>
          <a:solidFill>
            <a:srgbClr val="FFFFFF"/>
          </a:solidFill>
          <a:ln w="6350">
            <a:solidFill>
              <a:srgbClr val="E2DED2"/>
            </a:solidFill>
            <a:prstDash val="solid"/>
          </a:ln>
        </p:spPr>
      </p:sp>
      <p:sp>
        <p:nvSpPr>
          <p:cNvPr id="27" name="Text 25"/>
          <p:cNvSpPr/>
          <p:nvPr/>
        </p:nvSpPr>
        <p:spPr>
          <a:xfrm>
            <a:off x="8691343" y="4337183"/>
            <a:ext cx="2606662" cy="274255"/>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E1A2F"/>
                </a:solidFill>
                <a:latin typeface="Inter" pitchFamily="34" charset="0"/>
                <a:ea typeface="Inter" pitchFamily="34" charset="-122"/>
                <a:cs typeface="Inter" pitchFamily="34" charset="-120"/>
              </a:rPr>
              <a:t>Janhvi</a:t>
            </a:r>
            <a:endParaRPr lang="en-US" sz="1400" dirty="0"/>
          </a:p>
        </p:txBody>
      </p:sp>
      <p:sp>
        <p:nvSpPr>
          <p:cNvPr id="28" name="Text 26"/>
          <p:cNvSpPr/>
          <p:nvPr/>
        </p:nvSpPr>
        <p:spPr>
          <a:xfrm>
            <a:off x="8691343" y="4586039"/>
            <a:ext cx="2606662" cy="23875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07A"/>
                </a:solidFill>
                <a:latin typeface="Inter" pitchFamily="34" charset="0"/>
                <a:ea typeface="Inter" pitchFamily="34" charset="-122"/>
                <a:cs typeface="Inter" pitchFamily="34" charset="-120"/>
              </a:rPr>
              <a:t>Director, Investor Relations</a:t>
            </a:r>
            <a:endParaRPr lang="en-US" sz="1200" dirty="0"/>
          </a:p>
        </p:txBody>
      </p:sp>
      <p:sp>
        <p:nvSpPr>
          <p:cNvPr id="29" name="Text 27"/>
          <p:cNvSpPr/>
          <p:nvPr/>
        </p:nvSpPr>
        <p:spPr>
          <a:xfrm>
            <a:off x="812785" y="6238215"/>
            <a:ext cx="5886375" cy="23875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07A"/>
                </a:solidFill>
                <a:latin typeface="Inter" pitchFamily="34" charset="0"/>
                <a:ea typeface="Inter" pitchFamily="34" charset="-122"/>
                <a:cs typeface="Inter" pitchFamily="34" charset="-120"/>
              </a:rPr>
              <a:t>Anvexa · Investor Pitch</a:t>
            </a:r>
            <a:endParaRPr lang="en-US" sz="1200" dirty="0"/>
          </a:p>
        </p:txBody>
      </p:sp>
      <p:sp>
        <p:nvSpPr>
          <p:cNvPr id="30" name="Text 28"/>
          <p:cNvSpPr/>
          <p:nvPr/>
        </p:nvSpPr>
        <p:spPr>
          <a:xfrm>
            <a:off x="10693416" y="6238215"/>
            <a:ext cx="685727" cy="238757"/>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5607A"/>
                </a:solidFill>
                <a:latin typeface="Inter" pitchFamily="34" charset="0"/>
                <a:ea typeface="Inter" pitchFamily="34" charset="-122"/>
                <a:cs typeface="Inter"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3EC"/>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785" y="812784"/>
            <a:ext cx="10883348" cy="444471"/>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0E1A2F"/>
                </a:solidFill>
                <a:latin typeface="Sora" pitchFamily="34" charset="0"/>
                <a:ea typeface="Sora" pitchFamily="34" charset="-122"/>
                <a:cs typeface="Sora" pitchFamily="34" charset="-120"/>
              </a:rPr>
              <a:t>Products &amp; Services</a:t>
            </a:r>
            <a:endParaRPr lang="en-US" sz="3000" dirty="0"/>
          </a:p>
        </p:txBody>
      </p:sp>
      <p:sp>
        <p:nvSpPr>
          <p:cNvPr id="3" name="Shape 1"/>
          <p:cNvSpPr/>
          <p:nvPr/>
        </p:nvSpPr>
        <p:spPr>
          <a:xfrm>
            <a:off x="815960" y="1438173"/>
            <a:ext cx="3380317" cy="1323549"/>
          </a:xfrm>
          <a:prstGeom prst="roundRect">
            <a:avLst>
              <a:gd name="adj" fmla="val 7436"/>
            </a:avLst>
          </a:prstGeom>
          <a:solidFill>
            <a:srgbClr val="FFFFFF"/>
          </a:solidFill>
          <a:ln w="6350">
            <a:solidFill>
              <a:srgbClr val="E2DED2"/>
            </a:solidFill>
            <a:prstDash val="solid"/>
          </a:ln>
        </p:spPr>
      </p:sp>
      <p:sp>
        <p:nvSpPr>
          <p:cNvPr id="4" name="Text 2"/>
          <p:cNvSpPr/>
          <p:nvPr/>
        </p:nvSpPr>
        <p:spPr>
          <a:xfrm>
            <a:off x="995274" y="1617486"/>
            <a:ext cx="3112340" cy="238757"/>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F7F74"/>
                </a:solidFill>
                <a:latin typeface="Inter" pitchFamily="34" charset="0"/>
                <a:ea typeface="Inter" pitchFamily="34" charset="-122"/>
                <a:cs typeface="Inter" pitchFamily="34" charset="-120"/>
              </a:rPr>
              <a:t>Anvexa InsightX</a:t>
            </a:r>
            <a:endParaRPr lang="en-US" sz="1200" dirty="0"/>
          </a:p>
        </p:txBody>
      </p:sp>
      <p:sp>
        <p:nvSpPr>
          <p:cNvPr id="5" name="Text 3"/>
          <p:cNvSpPr/>
          <p:nvPr/>
        </p:nvSpPr>
        <p:spPr>
          <a:xfrm>
            <a:off x="995274" y="1894269"/>
            <a:ext cx="3112340" cy="238684"/>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E1A2F"/>
                </a:solidFill>
                <a:latin typeface="Inter" pitchFamily="34" charset="0"/>
                <a:ea typeface="Inter" pitchFamily="34" charset="-122"/>
                <a:cs typeface="Inter" pitchFamily="34" charset="-120"/>
              </a:rPr>
              <a:t>All-in-One Business Platform</a:t>
            </a:r>
            <a:endParaRPr lang="en-US" sz="1400" dirty="0"/>
          </a:p>
        </p:txBody>
      </p:sp>
      <p:sp>
        <p:nvSpPr>
          <p:cNvPr id="6" name="Text 4"/>
          <p:cNvSpPr/>
          <p:nvPr/>
        </p:nvSpPr>
        <p:spPr>
          <a:xfrm>
            <a:off x="995274" y="2170981"/>
            <a:ext cx="3112340" cy="436827"/>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5607A"/>
                </a:solidFill>
                <a:latin typeface="Inter" pitchFamily="34" charset="0"/>
                <a:ea typeface="Inter" pitchFamily="34" charset="-122"/>
                <a:cs typeface="Inter" pitchFamily="34" charset="-120"/>
              </a:rPr>
              <a:t>Billing, inventory, dispatch and reporting on one real-time dashboard.</a:t>
            </a:r>
            <a:endParaRPr lang="en-US" sz="1200" dirty="0"/>
          </a:p>
        </p:txBody>
      </p:sp>
      <p:sp>
        <p:nvSpPr>
          <p:cNvPr id="7" name="Shape 5"/>
          <p:cNvSpPr/>
          <p:nvPr/>
        </p:nvSpPr>
        <p:spPr>
          <a:xfrm>
            <a:off x="4405769" y="1438173"/>
            <a:ext cx="3380317" cy="1323549"/>
          </a:xfrm>
          <a:prstGeom prst="roundRect">
            <a:avLst>
              <a:gd name="adj" fmla="val 7436"/>
            </a:avLst>
          </a:prstGeom>
          <a:solidFill>
            <a:srgbClr val="FFFFFF"/>
          </a:solidFill>
          <a:ln w="6350">
            <a:solidFill>
              <a:srgbClr val="E2DED2"/>
            </a:solidFill>
            <a:prstDash val="solid"/>
          </a:ln>
        </p:spPr>
      </p:sp>
      <p:sp>
        <p:nvSpPr>
          <p:cNvPr id="8" name="Text 6"/>
          <p:cNvSpPr/>
          <p:nvPr/>
        </p:nvSpPr>
        <p:spPr>
          <a:xfrm>
            <a:off x="4585083" y="1617486"/>
            <a:ext cx="3112340" cy="238757"/>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F7F74"/>
                </a:solidFill>
                <a:latin typeface="Inter" pitchFamily="34" charset="0"/>
                <a:ea typeface="Inter" pitchFamily="34" charset="-122"/>
                <a:cs typeface="Inter" pitchFamily="34" charset="-120"/>
              </a:rPr>
              <a:t>Anvexa CloudSphere</a:t>
            </a:r>
            <a:endParaRPr lang="en-US" sz="1200" dirty="0"/>
          </a:p>
        </p:txBody>
      </p:sp>
      <p:sp>
        <p:nvSpPr>
          <p:cNvPr id="9" name="Text 7"/>
          <p:cNvSpPr/>
          <p:nvPr/>
        </p:nvSpPr>
        <p:spPr>
          <a:xfrm>
            <a:off x="4585083" y="1894269"/>
            <a:ext cx="3112340" cy="238684"/>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E1A2F"/>
                </a:solidFill>
                <a:latin typeface="Inter" pitchFamily="34" charset="0"/>
                <a:ea typeface="Inter" pitchFamily="34" charset="-122"/>
                <a:cs typeface="Inter" pitchFamily="34" charset="-120"/>
              </a:rPr>
              <a:t>Cloud Migration &amp; Support</a:t>
            </a:r>
            <a:endParaRPr lang="en-US" sz="1400" dirty="0"/>
          </a:p>
        </p:txBody>
      </p:sp>
      <p:sp>
        <p:nvSpPr>
          <p:cNvPr id="10" name="Text 8"/>
          <p:cNvSpPr/>
          <p:nvPr/>
        </p:nvSpPr>
        <p:spPr>
          <a:xfrm>
            <a:off x="4585083" y="2170981"/>
            <a:ext cx="3112340" cy="436827"/>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5607A"/>
                </a:solidFill>
                <a:latin typeface="Inter" pitchFamily="34" charset="0"/>
                <a:ea typeface="Inter" pitchFamily="34" charset="-122"/>
                <a:cs typeface="Inter" pitchFamily="34" charset="-120"/>
              </a:rPr>
              <a:t>Low-disruption move to the cloud with 99.9% uptime target and support.</a:t>
            </a:r>
            <a:endParaRPr lang="en-US" sz="1200" dirty="0"/>
          </a:p>
        </p:txBody>
      </p:sp>
      <p:sp>
        <p:nvSpPr>
          <p:cNvPr id="11" name="Shape 9"/>
          <p:cNvSpPr/>
          <p:nvPr/>
        </p:nvSpPr>
        <p:spPr>
          <a:xfrm>
            <a:off x="7995577" y="1438173"/>
            <a:ext cx="3380317" cy="1323549"/>
          </a:xfrm>
          <a:prstGeom prst="roundRect">
            <a:avLst>
              <a:gd name="adj" fmla="val 7436"/>
            </a:avLst>
          </a:prstGeom>
          <a:solidFill>
            <a:srgbClr val="FFFFFF"/>
          </a:solidFill>
          <a:ln w="6350">
            <a:solidFill>
              <a:srgbClr val="E2DED2"/>
            </a:solidFill>
            <a:prstDash val="solid"/>
          </a:ln>
        </p:spPr>
      </p:sp>
      <p:sp>
        <p:nvSpPr>
          <p:cNvPr id="12" name="Text 10"/>
          <p:cNvSpPr/>
          <p:nvPr/>
        </p:nvSpPr>
        <p:spPr>
          <a:xfrm>
            <a:off x="8174891" y="1617486"/>
            <a:ext cx="3112340" cy="238757"/>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F7F74"/>
                </a:solidFill>
                <a:latin typeface="Inter" pitchFamily="34" charset="0"/>
                <a:ea typeface="Inter" pitchFamily="34" charset="-122"/>
                <a:cs typeface="Inter" pitchFamily="34" charset="-120"/>
              </a:rPr>
              <a:t>Anvexa NexusAI</a:t>
            </a:r>
            <a:endParaRPr lang="en-US" sz="1200" dirty="0"/>
          </a:p>
        </p:txBody>
      </p:sp>
      <p:sp>
        <p:nvSpPr>
          <p:cNvPr id="13" name="Text 11"/>
          <p:cNvSpPr/>
          <p:nvPr/>
        </p:nvSpPr>
        <p:spPr>
          <a:xfrm>
            <a:off x="8174891" y="1894269"/>
            <a:ext cx="3112340" cy="238684"/>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E1A2F"/>
                </a:solidFill>
                <a:latin typeface="Inter" pitchFamily="34" charset="0"/>
                <a:ea typeface="Inter" pitchFamily="34" charset="-122"/>
                <a:cs typeface="Inter" pitchFamily="34" charset="-120"/>
              </a:rPr>
              <a:t>AI Automation &amp; Periodic Reports</a:t>
            </a:r>
            <a:endParaRPr lang="en-US" sz="1400" dirty="0"/>
          </a:p>
        </p:txBody>
      </p:sp>
      <p:sp>
        <p:nvSpPr>
          <p:cNvPr id="14" name="Text 12"/>
          <p:cNvSpPr/>
          <p:nvPr/>
        </p:nvSpPr>
        <p:spPr>
          <a:xfrm>
            <a:off x="8174891" y="2170981"/>
            <a:ext cx="3112340" cy="436827"/>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5607A"/>
                </a:solidFill>
                <a:latin typeface="Inter" pitchFamily="34" charset="0"/>
                <a:ea typeface="Inter" pitchFamily="34" charset="-122"/>
                <a:cs typeface="Inter" pitchFamily="34" charset="-120"/>
              </a:rPr>
              <a:t>Automates invoicing, support and data entry; generates periodic reports.</a:t>
            </a:r>
            <a:endParaRPr lang="en-US" sz="1200" dirty="0"/>
          </a:p>
        </p:txBody>
      </p:sp>
      <p:sp>
        <p:nvSpPr>
          <p:cNvPr id="15" name="Shape 13"/>
          <p:cNvSpPr/>
          <p:nvPr/>
        </p:nvSpPr>
        <p:spPr>
          <a:xfrm>
            <a:off x="815960" y="2971211"/>
            <a:ext cx="3380317" cy="1323549"/>
          </a:xfrm>
          <a:prstGeom prst="roundRect">
            <a:avLst>
              <a:gd name="adj" fmla="val 7436"/>
            </a:avLst>
          </a:prstGeom>
          <a:solidFill>
            <a:srgbClr val="FFFFFF"/>
          </a:solidFill>
          <a:ln w="6350">
            <a:solidFill>
              <a:srgbClr val="E2DED2"/>
            </a:solidFill>
            <a:prstDash val="solid"/>
          </a:ln>
        </p:spPr>
      </p:sp>
      <p:sp>
        <p:nvSpPr>
          <p:cNvPr id="16" name="Text 14"/>
          <p:cNvSpPr/>
          <p:nvPr/>
        </p:nvSpPr>
        <p:spPr>
          <a:xfrm>
            <a:off x="995274" y="3150527"/>
            <a:ext cx="3112340" cy="238757"/>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F7F74"/>
                </a:solidFill>
                <a:latin typeface="Inter" pitchFamily="34" charset="0"/>
                <a:ea typeface="Inter" pitchFamily="34" charset="-122"/>
                <a:cs typeface="Inter" pitchFamily="34" charset="-120"/>
              </a:rPr>
              <a:t>Anvexa Sentinel</a:t>
            </a:r>
            <a:endParaRPr lang="en-US" sz="1200" dirty="0"/>
          </a:p>
        </p:txBody>
      </p:sp>
      <p:sp>
        <p:nvSpPr>
          <p:cNvPr id="17" name="Text 15"/>
          <p:cNvSpPr/>
          <p:nvPr/>
        </p:nvSpPr>
        <p:spPr>
          <a:xfrm>
            <a:off x="995274" y="3427310"/>
            <a:ext cx="3112340" cy="238684"/>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E1A2F"/>
                </a:solidFill>
                <a:latin typeface="Inter" pitchFamily="34" charset="0"/>
                <a:ea typeface="Inter" pitchFamily="34" charset="-122"/>
                <a:cs typeface="Inter" pitchFamily="34" charset="-120"/>
              </a:rPr>
              <a:t>Cybersecurity &amp; Hardening</a:t>
            </a:r>
            <a:endParaRPr lang="en-US" sz="1400" dirty="0"/>
          </a:p>
        </p:txBody>
      </p:sp>
      <p:sp>
        <p:nvSpPr>
          <p:cNvPr id="18" name="Text 16"/>
          <p:cNvSpPr/>
          <p:nvPr/>
        </p:nvSpPr>
        <p:spPr>
          <a:xfrm>
            <a:off x="995274" y="3704019"/>
            <a:ext cx="3112340" cy="436827"/>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5607A"/>
                </a:solidFill>
                <a:latin typeface="Inter" pitchFamily="34" charset="0"/>
                <a:ea typeface="Inter" pitchFamily="34" charset="-122"/>
                <a:cs typeface="Inter" pitchFamily="34" charset="-120"/>
              </a:rPr>
              <a:t>Security audits and hardening against ransomware and unauthorised access.</a:t>
            </a:r>
            <a:endParaRPr lang="en-US" sz="1200" dirty="0"/>
          </a:p>
        </p:txBody>
      </p:sp>
      <p:sp>
        <p:nvSpPr>
          <p:cNvPr id="19" name="Shape 17"/>
          <p:cNvSpPr/>
          <p:nvPr/>
        </p:nvSpPr>
        <p:spPr>
          <a:xfrm>
            <a:off x="4405769" y="2971211"/>
            <a:ext cx="3380317" cy="1323549"/>
          </a:xfrm>
          <a:prstGeom prst="roundRect">
            <a:avLst>
              <a:gd name="adj" fmla="val 7436"/>
            </a:avLst>
          </a:prstGeom>
          <a:solidFill>
            <a:srgbClr val="FFFFFF"/>
          </a:solidFill>
          <a:ln w="6350">
            <a:solidFill>
              <a:srgbClr val="E2DED2"/>
            </a:solidFill>
            <a:prstDash val="solid"/>
          </a:ln>
        </p:spPr>
      </p:sp>
      <p:sp>
        <p:nvSpPr>
          <p:cNvPr id="20" name="Text 18"/>
          <p:cNvSpPr/>
          <p:nvPr/>
        </p:nvSpPr>
        <p:spPr>
          <a:xfrm>
            <a:off x="4585083" y="3150527"/>
            <a:ext cx="3112340" cy="238757"/>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F7F74"/>
                </a:solidFill>
                <a:latin typeface="Inter" pitchFamily="34" charset="0"/>
                <a:ea typeface="Inter" pitchFamily="34" charset="-122"/>
                <a:cs typeface="Inter" pitchFamily="34" charset="-120"/>
              </a:rPr>
              <a:t>Anvexa StudioX</a:t>
            </a:r>
            <a:endParaRPr lang="en-US" sz="1200" dirty="0"/>
          </a:p>
        </p:txBody>
      </p:sp>
      <p:sp>
        <p:nvSpPr>
          <p:cNvPr id="21" name="Text 19"/>
          <p:cNvSpPr/>
          <p:nvPr/>
        </p:nvSpPr>
        <p:spPr>
          <a:xfrm>
            <a:off x="4585083" y="3427310"/>
            <a:ext cx="3112340" cy="238684"/>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E1A2F"/>
                </a:solidFill>
                <a:latin typeface="Inter" pitchFamily="34" charset="0"/>
                <a:ea typeface="Inter" pitchFamily="34" charset="-122"/>
                <a:cs typeface="Inter" pitchFamily="34" charset="-120"/>
              </a:rPr>
              <a:t>Custom Software &amp; Web Apps</a:t>
            </a:r>
            <a:endParaRPr lang="en-US" sz="1400" dirty="0"/>
          </a:p>
        </p:txBody>
      </p:sp>
      <p:sp>
        <p:nvSpPr>
          <p:cNvPr id="22" name="Text 20"/>
          <p:cNvSpPr/>
          <p:nvPr/>
        </p:nvSpPr>
        <p:spPr>
          <a:xfrm>
            <a:off x="4585083" y="3704019"/>
            <a:ext cx="3112340" cy="436827"/>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5607A"/>
                </a:solidFill>
                <a:latin typeface="Inter" pitchFamily="34" charset="0"/>
                <a:ea typeface="Inter" pitchFamily="34" charset="-122"/>
                <a:cs typeface="Inter" pitchFamily="34" charset="-120"/>
              </a:rPr>
              <a:t>Bespoke web and mobile portals replacing spreadsheets and legacy tools.</a:t>
            </a:r>
            <a:endParaRPr lang="en-US" sz="1200" dirty="0"/>
          </a:p>
        </p:txBody>
      </p:sp>
      <p:sp>
        <p:nvSpPr>
          <p:cNvPr id="23" name="Text 21"/>
          <p:cNvSpPr/>
          <p:nvPr/>
        </p:nvSpPr>
        <p:spPr>
          <a:xfrm>
            <a:off x="7992402" y="2968036"/>
            <a:ext cx="3386667" cy="1329899"/>
          </a:xfrm>
          <a:prstGeom prst="roundRect">
            <a:avLst>
              <a:gd name="adj" fmla="val 7640"/>
            </a:avLst>
          </a:prstGeom>
          <a:solidFill>
            <a:srgbClr val="0E1A2F"/>
          </a:solidFill>
          <a:ln/>
        </p:spPr>
        <p:txBody>
          <a:bodyPr wrap="square" lIns="148028" tIns="148042" rIns="57095" bIns="148042" rtlCol="0" anchor="ctr">
            <a:normAutofit/>
          </a:bodyPr>
          <a:lstStyle/>
          <a:p>
            <a:pPr marL="0" indent="0" algn="l">
              <a:lnSpc>
                <a:spcPts val="2125"/>
              </a:lnSpc>
              <a:buNone/>
            </a:pPr>
            <a:r>
              <a:rPr lang="en-US" sz="1700" b="1" dirty="0">
                <a:solidFill>
                  <a:srgbClr val="F5F3EC"/>
                </a:solidFill>
                <a:latin typeface="Sora" pitchFamily="34" charset="0"/>
                <a:ea typeface="Sora" pitchFamily="34" charset="-122"/>
                <a:cs typeface="Sora" pitchFamily="34" charset="-120"/>
              </a:rPr>
              <a:t>Five modular products. One connected platform.</a:t>
            </a:r>
            <a:endParaRPr lang="en-US" sz="1700" dirty="0"/>
          </a:p>
        </p:txBody>
      </p:sp>
      <p:sp>
        <p:nvSpPr>
          <p:cNvPr id="24" name="Text 22"/>
          <p:cNvSpPr/>
          <p:nvPr/>
        </p:nvSpPr>
        <p:spPr>
          <a:xfrm>
            <a:off x="812785" y="6238215"/>
            <a:ext cx="5886375" cy="23875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07A"/>
                </a:solidFill>
                <a:latin typeface="Inter" pitchFamily="34" charset="0"/>
                <a:ea typeface="Inter" pitchFamily="34" charset="-122"/>
                <a:cs typeface="Inter" pitchFamily="34" charset="-120"/>
              </a:rPr>
              <a:t>Anvexa · Investor Pitch</a:t>
            </a:r>
            <a:endParaRPr lang="en-US" sz="1200" dirty="0"/>
          </a:p>
        </p:txBody>
      </p:sp>
      <p:sp>
        <p:nvSpPr>
          <p:cNvPr id="25" name="Text 23"/>
          <p:cNvSpPr/>
          <p:nvPr/>
        </p:nvSpPr>
        <p:spPr>
          <a:xfrm>
            <a:off x="10693416" y="6238215"/>
            <a:ext cx="685727" cy="238757"/>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5607A"/>
                </a:solidFill>
                <a:latin typeface="Inter" pitchFamily="34" charset="0"/>
                <a:ea typeface="Inter" pitchFamily="34" charset="-122"/>
                <a:cs typeface="Inter"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3EC"/>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785" y="812788"/>
            <a:ext cx="10883348" cy="444471"/>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0E1A2F"/>
                </a:solidFill>
                <a:latin typeface="Sora" pitchFamily="34" charset="0"/>
                <a:ea typeface="Sora" pitchFamily="34" charset="-122"/>
                <a:cs typeface="Sora" pitchFamily="34" charset="-120"/>
              </a:rPr>
              <a:t>Our USP</a:t>
            </a:r>
            <a:endParaRPr lang="en-US" sz="3000" dirty="0"/>
          </a:p>
        </p:txBody>
      </p:sp>
      <p:sp>
        <p:nvSpPr>
          <p:cNvPr id="3" name="Text 1"/>
          <p:cNvSpPr/>
          <p:nvPr/>
        </p:nvSpPr>
        <p:spPr>
          <a:xfrm>
            <a:off x="812785" y="1409644"/>
            <a:ext cx="10883348" cy="292041"/>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55607A"/>
                </a:solidFill>
                <a:latin typeface="Inter" pitchFamily="34" charset="0"/>
                <a:ea typeface="Inter" pitchFamily="34" charset="-122"/>
                <a:cs typeface="Inter" pitchFamily="34" charset="-120"/>
              </a:rPr>
              <a:t>One intelligent, secure platform for SMEs, built on four strengths that work together.</a:t>
            </a:r>
            <a:endParaRPr lang="en-US" sz="1500" dirty="0"/>
          </a:p>
        </p:txBody>
      </p:sp>
      <p:sp>
        <p:nvSpPr>
          <p:cNvPr id="4" name="Shape 2"/>
          <p:cNvSpPr/>
          <p:nvPr/>
        </p:nvSpPr>
        <p:spPr>
          <a:xfrm>
            <a:off x="815960" y="1857245"/>
            <a:ext cx="5187936" cy="1305910"/>
          </a:xfrm>
          <a:prstGeom prst="roundRect">
            <a:avLst>
              <a:gd name="adj" fmla="val 7537"/>
            </a:avLst>
          </a:prstGeom>
          <a:solidFill>
            <a:srgbClr val="FFFFFF"/>
          </a:solidFill>
          <a:ln w="6350">
            <a:solidFill>
              <a:srgbClr val="E2DED2"/>
            </a:solidFill>
            <a:prstDash val="solid"/>
          </a:ln>
        </p:spPr>
      </p:sp>
      <p:sp>
        <p:nvSpPr>
          <p:cNvPr id="5" name="Text 3"/>
          <p:cNvSpPr/>
          <p:nvPr/>
        </p:nvSpPr>
        <p:spPr>
          <a:xfrm>
            <a:off x="995274" y="2036558"/>
            <a:ext cx="457141" cy="457141"/>
          </a:xfrm>
          <a:custGeom>
            <a:avLst/>
            <a:gdLst/>
            <a:ahLst/>
            <a:cxnLst/>
            <a:rect l="l" t="t" r="r" b="b"/>
            <a:pathLst>
              <a:path w="457141" h="457141">
                <a:moveTo>
                  <a:pt x="228571" y="0"/>
                </a:moveTo>
                <a:lnTo>
                  <a:pt x="228571" y="0"/>
                </a:lnTo>
                <a:arcTo wR="228571" hR="228571" stAng="16200000" swAng="5400000"/>
                <a:lnTo>
                  <a:pt x="457141" y="228571"/>
                </a:lnTo>
                <a:arcTo wR="228571" hR="228571" stAng="0" swAng="5400000"/>
                <a:lnTo>
                  <a:pt x="228571" y="457141"/>
                </a:lnTo>
                <a:arcTo wR="228571" hR="228571" stAng="5400000" swAng="5400000"/>
                <a:lnTo>
                  <a:pt x="0" y="228571"/>
                </a:lnTo>
                <a:arcTo wR="228571" hR="228571" stAng="10800000" swAng="5400000"/>
                <a:close/>
              </a:path>
            </a:pathLst>
          </a:custGeom>
          <a:solidFill>
            <a:srgbClr val="1FB6A6"/>
          </a:solidFill>
          <a:ln/>
        </p:spPr>
        <p:txBody>
          <a:bodyPr wrap="square" lIns="0" tIns="0" rIns="0" bIns="0" rtlCol="0" anchor="t">
            <a:normAutofit/>
          </a:bodyPr>
          <a:lstStyle/>
          <a:p>
            <a:pPr marL="0" indent="0" algn="ctr">
              <a:lnSpc>
                <a:spcPts val="3600"/>
              </a:lnSpc>
              <a:buNone/>
            </a:pPr>
            <a:r>
              <a:rPr lang="en-US" sz="1800" b="1" dirty="0">
                <a:solidFill>
                  <a:srgbClr val="FFFFFF"/>
                </a:solidFill>
                <a:latin typeface="Inter" pitchFamily="34" charset="0"/>
                <a:ea typeface="Inter" pitchFamily="34" charset="-122"/>
                <a:cs typeface="Inter" pitchFamily="34" charset="-120"/>
              </a:rPr>
              <a:t>1</a:t>
            </a:r>
            <a:endParaRPr lang="en-US" sz="1800" dirty="0"/>
          </a:p>
        </p:txBody>
      </p:sp>
      <p:sp>
        <p:nvSpPr>
          <p:cNvPr id="6" name="Text 4"/>
          <p:cNvSpPr/>
          <p:nvPr/>
        </p:nvSpPr>
        <p:spPr>
          <a:xfrm>
            <a:off x="1604772" y="2036558"/>
            <a:ext cx="4346405" cy="253971"/>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E1A2F"/>
                </a:solidFill>
                <a:latin typeface="Inter" pitchFamily="34" charset="0"/>
                <a:ea typeface="Inter" pitchFamily="34" charset="-122"/>
                <a:cs typeface="Inter" pitchFamily="34" charset="-120"/>
              </a:rPr>
              <a:t>All-in-One Platform with Dashboard</a:t>
            </a:r>
            <a:endParaRPr lang="en-US" sz="1500" dirty="0"/>
          </a:p>
        </p:txBody>
      </p:sp>
      <p:sp>
        <p:nvSpPr>
          <p:cNvPr id="7" name="Text 5"/>
          <p:cNvSpPr/>
          <p:nvPr/>
        </p:nvSpPr>
        <p:spPr>
          <a:xfrm>
            <a:off x="1604772" y="2315914"/>
            <a:ext cx="4346405" cy="436827"/>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2B3A55"/>
                </a:solidFill>
                <a:latin typeface="Inter" pitchFamily="34" charset="0"/>
                <a:ea typeface="Inter" pitchFamily="34" charset="-122"/>
                <a:cs typeface="Inter" pitchFamily="34" charset="-120"/>
              </a:rPr>
              <a:t>Billing, inventory, dispatch and reporting on one real-time owner dashboard.</a:t>
            </a:r>
            <a:endParaRPr lang="en-US" sz="1200" dirty="0"/>
          </a:p>
        </p:txBody>
      </p:sp>
      <p:sp>
        <p:nvSpPr>
          <p:cNvPr id="8" name="Text 6"/>
          <p:cNvSpPr/>
          <p:nvPr/>
        </p:nvSpPr>
        <p:spPr>
          <a:xfrm>
            <a:off x="1604772" y="2778128"/>
            <a:ext cx="4346405" cy="231114"/>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0F7F74"/>
                </a:solidFill>
                <a:latin typeface="Inter" pitchFamily="34" charset="0"/>
                <a:ea typeface="Inter" pitchFamily="34" charset="-122"/>
                <a:cs typeface="Inter" pitchFamily="34" charset="-120"/>
              </a:rPr>
              <a:t>Decisions on live data, not scattered spreadsheets.</a:t>
            </a:r>
            <a:endParaRPr lang="en-US" sz="1200" dirty="0"/>
          </a:p>
        </p:txBody>
      </p:sp>
      <p:sp>
        <p:nvSpPr>
          <p:cNvPr id="9" name="Shape 7"/>
          <p:cNvSpPr/>
          <p:nvPr/>
        </p:nvSpPr>
        <p:spPr>
          <a:xfrm>
            <a:off x="6188032" y="1857245"/>
            <a:ext cx="5187936" cy="1305910"/>
          </a:xfrm>
          <a:prstGeom prst="roundRect">
            <a:avLst>
              <a:gd name="adj" fmla="val 7537"/>
            </a:avLst>
          </a:prstGeom>
          <a:solidFill>
            <a:srgbClr val="FFFFFF"/>
          </a:solidFill>
          <a:ln w="6350">
            <a:solidFill>
              <a:srgbClr val="E2DED2"/>
            </a:solidFill>
            <a:prstDash val="solid"/>
          </a:ln>
        </p:spPr>
      </p:sp>
      <p:sp>
        <p:nvSpPr>
          <p:cNvPr id="10" name="Text 8"/>
          <p:cNvSpPr/>
          <p:nvPr/>
        </p:nvSpPr>
        <p:spPr>
          <a:xfrm>
            <a:off x="6367346" y="2036558"/>
            <a:ext cx="457141" cy="457141"/>
          </a:xfrm>
          <a:custGeom>
            <a:avLst/>
            <a:gdLst/>
            <a:ahLst/>
            <a:cxnLst/>
            <a:rect l="l" t="t" r="r" b="b"/>
            <a:pathLst>
              <a:path w="457141" h="457141">
                <a:moveTo>
                  <a:pt x="228571" y="0"/>
                </a:moveTo>
                <a:lnTo>
                  <a:pt x="228571" y="0"/>
                </a:lnTo>
                <a:arcTo wR="228571" hR="228571" stAng="16200000" swAng="5400000"/>
                <a:lnTo>
                  <a:pt x="457141" y="228571"/>
                </a:lnTo>
                <a:arcTo wR="228571" hR="228571" stAng="0" swAng="5400000"/>
                <a:lnTo>
                  <a:pt x="228571" y="457141"/>
                </a:lnTo>
                <a:arcTo wR="228571" hR="228571" stAng="5400000" swAng="5400000"/>
                <a:lnTo>
                  <a:pt x="0" y="228571"/>
                </a:lnTo>
                <a:arcTo wR="228571" hR="228571" stAng="10800000" swAng="5400000"/>
                <a:close/>
              </a:path>
            </a:pathLst>
          </a:custGeom>
          <a:solidFill>
            <a:srgbClr val="1FB6A6"/>
          </a:solidFill>
          <a:ln/>
        </p:spPr>
        <p:txBody>
          <a:bodyPr wrap="square" lIns="0" tIns="0" rIns="0" bIns="0" rtlCol="0" anchor="t">
            <a:normAutofit/>
          </a:bodyPr>
          <a:lstStyle/>
          <a:p>
            <a:pPr marL="0" indent="0" algn="ctr">
              <a:lnSpc>
                <a:spcPts val="3600"/>
              </a:lnSpc>
              <a:buNone/>
            </a:pPr>
            <a:r>
              <a:rPr lang="en-US" sz="1800" b="1" dirty="0">
                <a:solidFill>
                  <a:srgbClr val="FFFFFF"/>
                </a:solidFill>
                <a:latin typeface="Inter" pitchFamily="34" charset="0"/>
                <a:ea typeface="Inter" pitchFamily="34" charset="-122"/>
                <a:cs typeface="Inter" pitchFamily="34" charset="-120"/>
              </a:rPr>
              <a:t>2</a:t>
            </a:r>
            <a:endParaRPr lang="en-US" sz="1800" dirty="0"/>
          </a:p>
        </p:txBody>
      </p:sp>
      <p:sp>
        <p:nvSpPr>
          <p:cNvPr id="11" name="Text 9"/>
          <p:cNvSpPr/>
          <p:nvPr/>
        </p:nvSpPr>
        <p:spPr>
          <a:xfrm>
            <a:off x="6976843" y="2036558"/>
            <a:ext cx="4346405" cy="253971"/>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E1A2F"/>
                </a:solidFill>
                <a:latin typeface="Inter" pitchFamily="34" charset="0"/>
                <a:ea typeface="Inter" pitchFamily="34" charset="-122"/>
                <a:cs typeface="Inter" pitchFamily="34" charset="-120"/>
              </a:rPr>
              <a:t>Easy Cloud Migration</a:t>
            </a:r>
            <a:endParaRPr lang="en-US" sz="1500" dirty="0"/>
          </a:p>
        </p:txBody>
      </p:sp>
      <p:sp>
        <p:nvSpPr>
          <p:cNvPr id="12" name="Text 10"/>
          <p:cNvSpPr/>
          <p:nvPr/>
        </p:nvSpPr>
        <p:spPr>
          <a:xfrm>
            <a:off x="6976843" y="2315914"/>
            <a:ext cx="4346405" cy="436827"/>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2B3A55"/>
                </a:solidFill>
                <a:latin typeface="Inter" pitchFamily="34" charset="0"/>
                <a:ea typeface="Inter" pitchFamily="34" charset="-122"/>
                <a:cs typeface="Inter" pitchFamily="34" charset="-120"/>
              </a:rPr>
              <a:t>Guided, low-disruption move to the cloud, with support after go-live.</a:t>
            </a:r>
            <a:endParaRPr lang="en-US" sz="1200" dirty="0"/>
          </a:p>
        </p:txBody>
      </p:sp>
      <p:sp>
        <p:nvSpPr>
          <p:cNvPr id="13" name="Text 11"/>
          <p:cNvSpPr/>
          <p:nvPr/>
        </p:nvSpPr>
        <p:spPr>
          <a:xfrm>
            <a:off x="6976843" y="2778128"/>
            <a:ext cx="4346405" cy="231114"/>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0F7F74"/>
                </a:solidFill>
                <a:latin typeface="Inter" pitchFamily="34" charset="0"/>
                <a:ea typeface="Inter" pitchFamily="34" charset="-122"/>
                <a:cs typeface="Inter" pitchFamily="34" charset="-120"/>
              </a:rPr>
              <a:t>Removes migration risk and server upkeep.</a:t>
            </a:r>
            <a:endParaRPr lang="en-US" sz="1200" dirty="0"/>
          </a:p>
        </p:txBody>
      </p:sp>
      <p:sp>
        <p:nvSpPr>
          <p:cNvPr id="14" name="Shape 12"/>
          <p:cNvSpPr/>
          <p:nvPr/>
        </p:nvSpPr>
        <p:spPr>
          <a:xfrm>
            <a:off x="815960" y="3347290"/>
            <a:ext cx="5187936" cy="1305910"/>
          </a:xfrm>
          <a:prstGeom prst="roundRect">
            <a:avLst>
              <a:gd name="adj" fmla="val 7537"/>
            </a:avLst>
          </a:prstGeom>
          <a:solidFill>
            <a:srgbClr val="FFFFFF"/>
          </a:solidFill>
          <a:ln w="6350">
            <a:solidFill>
              <a:srgbClr val="E2DED2"/>
            </a:solidFill>
            <a:prstDash val="solid"/>
          </a:ln>
        </p:spPr>
      </p:sp>
      <p:sp>
        <p:nvSpPr>
          <p:cNvPr id="15" name="Text 13"/>
          <p:cNvSpPr/>
          <p:nvPr/>
        </p:nvSpPr>
        <p:spPr>
          <a:xfrm>
            <a:off x="995274" y="3526603"/>
            <a:ext cx="457141" cy="457141"/>
          </a:xfrm>
          <a:custGeom>
            <a:avLst/>
            <a:gdLst/>
            <a:ahLst/>
            <a:cxnLst/>
            <a:rect l="l" t="t" r="r" b="b"/>
            <a:pathLst>
              <a:path w="457141" h="457141">
                <a:moveTo>
                  <a:pt x="228571" y="0"/>
                </a:moveTo>
                <a:lnTo>
                  <a:pt x="228571" y="0"/>
                </a:lnTo>
                <a:arcTo wR="228571" hR="228571" stAng="16200000" swAng="5400000"/>
                <a:lnTo>
                  <a:pt x="457141" y="228571"/>
                </a:lnTo>
                <a:arcTo wR="228571" hR="228571" stAng="0" swAng="5400000"/>
                <a:lnTo>
                  <a:pt x="228571" y="457141"/>
                </a:lnTo>
                <a:arcTo wR="228571" hR="228571" stAng="5400000" swAng="5400000"/>
                <a:lnTo>
                  <a:pt x="0" y="228571"/>
                </a:lnTo>
                <a:arcTo wR="228571" hR="228571" stAng="10800000" swAng="5400000"/>
                <a:close/>
              </a:path>
            </a:pathLst>
          </a:custGeom>
          <a:solidFill>
            <a:srgbClr val="1FB6A6"/>
          </a:solidFill>
          <a:ln/>
        </p:spPr>
        <p:txBody>
          <a:bodyPr wrap="square" lIns="0" tIns="0" rIns="0" bIns="0" rtlCol="0" anchor="t">
            <a:normAutofit/>
          </a:bodyPr>
          <a:lstStyle/>
          <a:p>
            <a:pPr marL="0" indent="0" algn="ctr">
              <a:lnSpc>
                <a:spcPts val="3600"/>
              </a:lnSpc>
              <a:buNone/>
            </a:pPr>
            <a:r>
              <a:rPr lang="en-US" sz="1800" b="1" dirty="0">
                <a:solidFill>
                  <a:srgbClr val="FFFFFF"/>
                </a:solidFill>
                <a:latin typeface="Inter" pitchFamily="34" charset="0"/>
                <a:ea typeface="Inter" pitchFamily="34" charset="-122"/>
                <a:cs typeface="Inter" pitchFamily="34" charset="-120"/>
              </a:rPr>
              <a:t>3</a:t>
            </a:r>
            <a:endParaRPr lang="en-US" sz="1800" dirty="0"/>
          </a:p>
        </p:txBody>
      </p:sp>
      <p:sp>
        <p:nvSpPr>
          <p:cNvPr id="16" name="Text 14"/>
          <p:cNvSpPr/>
          <p:nvPr/>
        </p:nvSpPr>
        <p:spPr>
          <a:xfrm>
            <a:off x="1604772" y="3526603"/>
            <a:ext cx="4346405" cy="253971"/>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E1A2F"/>
                </a:solidFill>
                <a:latin typeface="Inter" pitchFamily="34" charset="0"/>
                <a:ea typeface="Inter" pitchFamily="34" charset="-122"/>
                <a:cs typeface="Inter" pitchFamily="34" charset="-120"/>
              </a:rPr>
              <a:t>Cybersecurity</a:t>
            </a:r>
            <a:endParaRPr lang="en-US" sz="1500" dirty="0"/>
          </a:p>
        </p:txBody>
      </p:sp>
      <p:sp>
        <p:nvSpPr>
          <p:cNvPr id="17" name="Text 15"/>
          <p:cNvSpPr/>
          <p:nvPr/>
        </p:nvSpPr>
        <p:spPr>
          <a:xfrm>
            <a:off x="1604772" y="3805960"/>
            <a:ext cx="4346405" cy="436827"/>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2B3A55"/>
                </a:solidFill>
                <a:latin typeface="Inter" pitchFamily="34" charset="0"/>
                <a:ea typeface="Inter" pitchFamily="34" charset="-122"/>
                <a:cs typeface="Inter" pitchFamily="34" charset="-120"/>
              </a:rPr>
              <a:t>Security audit and hardening built in, against ransomware and unauthorised access.</a:t>
            </a:r>
            <a:endParaRPr lang="en-US" sz="1200" dirty="0"/>
          </a:p>
        </p:txBody>
      </p:sp>
      <p:sp>
        <p:nvSpPr>
          <p:cNvPr id="18" name="Text 16"/>
          <p:cNvSpPr/>
          <p:nvPr/>
        </p:nvSpPr>
        <p:spPr>
          <a:xfrm>
            <a:off x="1604772" y="4268174"/>
            <a:ext cx="4346405" cy="231114"/>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0F7F74"/>
                </a:solidFill>
                <a:latin typeface="Inter" pitchFamily="34" charset="0"/>
                <a:ea typeface="Inter" pitchFamily="34" charset="-122"/>
                <a:cs typeface="Inter" pitchFamily="34" charset="-120"/>
              </a:rPr>
              <a:t>Business data stays protected as operations go digital.</a:t>
            </a:r>
            <a:endParaRPr lang="en-US" sz="1200" dirty="0"/>
          </a:p>
        </p:txBody>
      </p:sp>
      <p:sp>
        <p:nvSpPr>
          <p:cNvPr id="19" name="Shape 17"/>
          <p:cNvSpPr/>
          <p:nvPr/>
        </p:nvSpPr>
        <p:spPr>
          <a:xfrm>
            <a:off x="6188032" y="3347290"/>
            <a:ext cx="5187936" cy="1305910"/>
          </a:xfrm>
          <a:prstGeom prst="roundRect">
            <a:avLst>
              <a:gd name="adj" fmla="val 7537"/>
            </a:avLst>
          </a:prstGeom>
          <a:solidFill>
            <a:srgbClr val="FFFFFF"/>
          </a:solidFill>
          <a:ln w="6350">
            <a:solidFill>
              <a:srgbClr val="E2DED2"/>
            </a:solidFill>
            <a:prstDash val="solid"/>
          </a:ln>
        </p:spPr>
      </p:sp>
      <p:sp>
        <p:nvSpPr>
          <p:cNvPr id="20" name="Text 18"/>
          <p:cNvSpPr/>
          <p:nvPr/>
        </p:nvSpPr>
        <p:spPr>
          <a:xfrm>
            <a:off x="6367346" y="3526603"/>
            <a:ext cx="457141" cy="457141"/>
          </a:xfrm>
          <a:custGeom>
            <a:avLst/>
            <a:gdLst/>
            <a:ahLst/>
            <a:cxnLst/>
            <a:rect l="l" t="t" r="r" b="b"/>
            <a:pathLst>
              <a:path w="457141" h="457141">
                <a:moveTo>
                  <a:pt x="228571" y="0"/>
                </a:moveTo>
                <a:lnTo>
                  <a:pt x="228571" y="0"/>
                </a:lnTo>
                <a:arcTo wR="228571" hR="228571" stAng="16200000" swAng="5400000"/>
                <a:lnTo>
                  <a:pt x="457141" y="228571"/>
                </a:lnTo>
                <a:arcTo wR="228571" hR="228571" stAng="0" swAng="5400000"/>
                <a:lnTo>
                  <a:pt x="228571" y="457141"/>
                </a:lnTo>
                <a:arcTo wR="228571" hR="228571" stAng="5400000" swAng="5400000"/>
                <a:lnTo>
                  <a:pt x="0" y="228571"/>
                </a:lnTo>
                <a:arcTo wR="228571" hR="228571" stAng="10800000" swAng="5400000"/>
                <a:close/>
              </a:path>
            </a:pathLst>
          </a:custGeom>
          <a:solidFill>
            <a:srgbClr val="1FB6A6"/>
          </a:solidFill>
          <a:ln/>
        </p:spPr>
        <p:txBody>
          <a:bodyPr wrap="square" lIns="0" tIns="0" rIns="0" bIns="0" rtlCol="0" anchor="t">
            <a:normAutofit/>
          </a:bodyPr>
          <a:lstStyle/>
          <a:p>
            <a:pPr marL="0" indent="0" algn="ctr">
              <a:lnSpc>
                <a:spcPts val="3600"/>
              </a:lnSpc>
              <a:buNone/>
            </a:pPr>
            <a:r>
              <a:rPr lang="en-US" sz="1800" b="1" dirty="0">
                <a:solidFill>
                  <a:srgbClr val="FFFFFF"/>
                </a:solidFill>
                <a:latin typeface="Inter" pitchFamily="34" charset="0"/>
                <a:ea typeface="Inter" pitchFamily="34" charset="-122"/>
                <a:cs typeface="Inter" pitchFamily="34" charset="-120"/>
              </a:rPr>
              <a:t>4</a:t>
            </a:r>
            <a:endParaRPr lang="en-US" sz="1800" dirty="0"/>
          </a:p>
        </p:txBody>
      </p:sp>
      <p:sp>
        <p:nvSpPr>
          <p:cNvPr id="21" name="Text 19"/>
          <p:cNvSpPr/>
          <p:nvPr/>
        </p:nvSpPr>
        <p:spPr>
          <a:xfrm>
            <a:off x="6976843" y="3526603"/>
            <a:ext cx="4346405" cy="253971"/>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E1A2F"/>
                </a:solidFill>
                <a:latin typeface="Inter" pitchFamily="34" charset="0"/>
                <a:ea typeface="Inter" pitchFamily="34" charset="-122"/>
                <a:cs typeface="Inter" pitchFamily="34" charset="-120"/>
              </a:rPr>
              <a:t>AI for Periodic Reports</a:t>
            </a:r>
            <a:endParaRPr lang="en-US" sz="1500" dirty="0"/>
          </a:p>
        </p:txBody>
      </p:sp>
      <p:sp>
        <p:nvSpPr>
          <p:cNvPr id="22" name="Text 20"/>
          <p:cNvSpPr/>
          <p:nvPr/>
        </p:nvSpPr>
        <p:spPr>
          <a:xfrm>
            <a:off x="6976843" y="3805960"/>
            <a:ext cx="4346405" cy="436827"/>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2B3A55"/>
                </a:solidFill>
                <a:latin typeface="Inter" pitchFamily="34" charset="0"/>
                <a:ea typeface="Inter" pitchFamily="34" charset="-122"/>
                <a:cs typeface="Inter" pitchFamily="34" charset="-120"/>
              </a:rPr>
              <a:t>AI generates daily, weekly and monthly reports and flags what needs attention.</a:t>
            </a:r>
            <a:endParaRPr lang="en-US" sz="1200" dirty="0"/>
          </a:p>
        </p:txBody>
      </p:sp>
      <p:sp>
        <p:nvSpPr>
          <p:cNvPr id="23" name="Text 21"/>
          <p:cNvSpPr/>
          <p:nvPr/>
        </p:nvSpPr>
        <p:spPr>
          <a:xfrm>
            <a:off x="6976843" y="4268174"/>
            <a:ext cx="4346405" cy="231114"/>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0F7F74"/>
                </a:solidFill>
                <a:latin typeface="Inter" pitchFamily="34" charset="0"/>
                <a:ea typeface="Inter" pitchFamily="34" charset="-122"/>
                <a:cs typeface="Inter" pitchFamily="34" charset="-120"/>
              </a:rPr>
              <a:t>Saves reporting time and surfaces problems early.</a:t>
            </a:r>
            <a:endParaRPr lang="en-US" sz="1200" dirty="0"/>
          </a:p>
        </p:txBody>
      </p:sp>
      <p:sp>
        <p:nvSpPr>
          <p:cNvPr id="24" name="Text 22"/>
          <p:cNvSpPr/>
          <p:nvPr/>
        </p:nvSpPr>
        <p:spPr>
          <a:xfrm>
            <a:off x="812785" y="6238215"/>
            <a:ext cx="5886375" cy="23875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07A"/>
                </a:solidFill>
                <a:latin typeface="Inter" pitchFamily="34" charset="0"/>
                <a:ea typeface="Inter" pitchFamily="34" charset="-122"/>
                <a:cs typeface="Inter" pitchFamily="34" charset="-120"/>
              </a:rPr>
              <a:t>Anvexa · Investor Pitch</a:t>
            </a:r>
            <a:endParaRPr lang="en-US" sz="1200" dirty="0"/>
          </a:p>
        </p:txBody>
      </p:sp>
      <p:sp>
        <p:nvSpPr>
          <p:cNvPr id="25" name="Text 23"/>
          <p:cNvSpPr/>
          <p:nvPr/>
        </p:nvSpPr>
        <p:spPr>
          <a:xfrm>
            <a:off x="10693416" y="6238215"/>
            <a:ext cx="685727" cy="238757"/>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5607A"/>
                </a:solidFill>
                <a:latin typeface="Inter" pitchFamily="34" charset="0"/>
                <a:ea typeface="Inter" pitchFamily="34" charset="-122"/>
                <a:cs typeface="Inter"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E1A2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785" y="812784"/>
            <a:ext cx="10883348" cy="444471"/>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F5F3EC"/>
                </a:solidFill>
                <a:latin typeface="Sora" pitchFamily="34" charset="0"/>
                <a:ea typeface="Sora" pitchFamily="34" charset="-122"/>
                <a:cs typeface="Sora" pitchFamily="34" charset="-120"/>
              </a:rPr>
              <a:t>Business Model</a:t>
            </a:r>
            <a:endParaRPr lang="en-US" sz="3000" dirty="0"/>
          </a:p>
        </p:txBody>
      </p:sp>
      <p:sp>
        <p:nvSpPr>
          <p:cNvPr id="3" name="Text 1"/>
          <p:cNvSpPr/>
          <p:nvPr/>
        </p:nvSpPr>
        <p:spPr>
          <a:xfrm>
            <a:off x="812785" y="1460426"/>
            <a:ext cx="5232401" cy="253971"/>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FB6A6"/>
                </a:solidFill>
                <a:latin typeface="Inter" pitchFamily="34" charset="0"/>
                <a:ea typeface="Inter" pitchFamily="34" charset="-122"/>
                <a:cs typeface="Inter" pitchFamily="34" charset="-120"/>
              </a:rPr>
              <a:t>Usage-Based Subscription</a:t>
            </a:r>
            <a:endParaRPr lang="en-US" sz="1500" dirty="0"/>
          </a:p>
        </p:txBody>
      </p:sp>
      <p:sp>
        <p:nvSpPr>
          <p:cNvPr id="4" name="Text 2"/>
          <p:cNvSpPr/>
          <p:nvPr/>
        </p:nvSpPr>
        <p:spPr>
          <a:xfrm>
            <a:off x="812785" y="1815923"/>
            <a:ext cx="5232401" cy="1180747"/>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C9D3E3"/>
                </a:solidFill>
                <a:latin typeface="Inter" pitchFamily="34" charset="0"/>
                <a:ea typeface="Inter" pitchFamily="34" charset="-122"/>
                <a:cs typeface="Inter" pitchFamily="34" charset="-120"/>
              </a:rPr>
              <a:t>Clients pay a recurring monthly or annual fee based on cloud accounts connected, servers and resources monitored, and cloud spend managed through our platform. Pay-As-You-Grow lets clients start small and scale affordably, while our AI Cloud CFO predicts cloud costs and helps optimise them.</a:t>
            </a:r>
            <a:endParaRPr lang="en-US" sz="1300" dirty="0"/>
          </a:p>
        </p:txBody>
      </p:sp>
      <p:sp>
        <p:nvSpPr>
          <p:cNvPr id="5" name="Text 3"/>
          <p:cNvSpPr/>
          <p:nvPr/>
        </p:nvSpPr>
        <p:spPr>
          <a:xfrm>
            <a:off x="6299142" y="1460426"/>
            <a:ext cx="5232401" cy="253971"/>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FB6A6"/>
                </a:solidFill>
                <a:latin typeface="Inter" pitchFamily="34" charset="0"/>
                <a:ea typeface="Inter" pitchFamily="34" charset="-122"/>
                <a:cs typeface="Inter" pitchFamily="34" charset="-120"/>
              </a:rPr>
              <a:t>Revenue Streams</a:t>
            </a:r>
            <a:endParaRPr lang="en-US" sz="1500" dirty="0"/>
          </a:p>
        </p:txBody>
      </p:sp>
      <p:sp>
        <p:nvSpPr>
          <p:cNvPr id="6" name="Text 4"/>
          <p:cNvSpPr/>
          <p:nvPr/>
        </p:nvSpPr>
        <p:spPr>
          <a:xfrm>
            <a:off x="6299142" y="1815923"/>
            <a:ext cx="5232401" cy="25646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C9D3E3"/>
                </a:solidFill>
                <a:latin typeface="Inter" pitchFamily="34" charset="0"/>
                <a:ea typeface="Inter" pitchFamily="34" charset="-122"/>
                <a:cs typeface="Inter" pitchFamily="34" charset="-120"/>
              </a:rPr>
              <a:t>· Recurring subscription and support</a:t>
            </a:r>
            <a:endParaRPr lang="en-US" sz="1300" dirty="0"/>
          </a:p>
        </p:txBody>
      </p:sp>
      <p:sp>
        <p:nvSpPr>
          <p:cNvPr id="7" name="Text 5"/>
          <p:cNvSpPr/>
          <p:nvPr/>
        </p:nvSpPr>
        <p:spPr>
          <a:xfrm>
            <a:off x="6299142" y="2173920"/>
            <a:ext cx="5232401" cy="25646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C9D3E3"/>
                </a:solidFill>
                <a:latin typeface="Inter" pitchFamily="34" charset="0"/>
                <a:ea typeface="Inter" pitchFamily="34" charset="-122"/>
                <a:cs typeface="Inter" pitchFamily="34" charset="-120"/>
              </a:rPr>
              <a:t>· One-time implementation and migration fees</a:t>
            </a:r>
            <a:endParaRPr lang="en-US" sz="1300" dirty="0"/>
          </a:p>
        </p:txBody>
      </p:sp>
      <p:sp>
        <p:nvSpPr>
          <p:cNvPr id="8" name="Text 6"/>
          <p:cNvSpPr/>
          <p:nvPr/>
        </p:nvSpPr>
        <p:spPr>
          <a:xfrm>
            <a:off x="6299142" y="2531917"/>
            <a:ext cx="5232401" cy="25646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C9D3E3"/>
                </a:solidFill>
                <a:latin typeface="Inter" pitchFamily="34" charset="0"/>
                <a:ea typeface="Inter" pitchFamily="34" charset="-122"/>
                <a:cs typeface="Inter" pitchFamily="34" charset="-120"/>
              </a:rPr>
              <a:t>· Custom development projects</a:t>
            </a:r>
            <a:endParaRPr lang="en-US" sz="1300" dirty="0"/>
          </a:p>
        </p:txBody>
      </p:sp>
      <p:sp>
        <p:nvSpPr>
          <p:cNvPr id="9" name="Text 7"/>
          <p:cNvSpPr/>
          <p:nvPr/>
        </p:nvSpPr>
        <p:spPr>
          <a:xfrm>
            <a:off x="6299142" y="2889914"/>
            <a:ext cx="5232401" cy="25646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C9D3E3"/>
                </a:solidFill>
                <a:latin typeface="Inter" pitchFamily="34" charset="0"/>
                <a:ea typeface="Inter" pitchFamily="34" charset="-122"/>
                <a:cs typeface="Inter" pitchFamily="34" charset="-120"/>
              </a:rPr>
              <a:t>· Additional service and integration fees</a:t>
            </a:r>
            <a:endParaRPr lang="en-US" sz="1300" dirty="0"/>
          </a:p>
        </p:txBody>
      </p:sp>
      <p:sp>
        <p:nvSpPr>
          <p:cNvPr id="10" name="Shape 8"/>
          <p:cNvSpPr/>
          <p:nvPr/>
        </p:nvSpPr>
        <p:spPr>
          <a:xfrm>
            <a:off x="812785" y="3349551"/>
            <a:ext cx="2489215" cy="1401851"/>
          </a:xfrm>
          <a:prstGeom prst="roundRect">
            <a:avLst>
              <a:gd name="adj" fmla="val 7248"/>
            </a:avLst>
          </a:prstGeom>
          <a:solidFill>
            <a:srgbClr val="14284A"/>
          </a:solidFill>
          <a:ln/>
        </p:spPr>
      </p:sp>
      <p:sp>
        <p:nvSpPr>
          <p:cNvPr id="11" name="Text 9"/>
          <p:cNvSpPr/>
          <p:nvPr/>
        </p:nvSpPr>
        <p:spPr>
          <a:xfrm>
            <a:off x="990571" y="3527338"/>
            <a:ext cx="2197654" cy="558756"/>
          </a:xfrm>
          <a:prstGeom prst="rect">
            <a:avLst/>
          </a:prstGeom>
          <a:noFill/>
          <a:ln/>
        </p:spPr>
        <p:txBody>
          <a:bodyPr wrap="square" lIns="0" tIns="0" rIns="0" bIns="0" rtlCol="0" anchor="t">
            <a:normAutofit/>
          </a:bodyPr>
          <a:lstStyle/>
          <a:p>
            <a:pPr marL="0" indent="0" algn="l">
              <a:lnSpc>
                <a:spcPts val="4200"/>
              </a:lnSpc>
              <a:buNone/>
            </a:pPr>
            <a:r>
              <a:rPr lang="en-US" sz="3000" b="1" dirty="0">
                <a:solidFill>
                  <a:srgbClr val="F2A33A"/>
                </a:solidFill>
                <a:latin typeface="Sora" pitchFamily="34" charset="0"/>
                <a:ea typeface="Sora" pitchFamily="34" charset="-122"/>
                <a:cs typeface="Sora" pitchFamily="34" charset="-120"/>
              </a:rPr>
              <a:t>32</a:t>
            </a:r>
            <a:endParaRPr lang="en-US" sz="3000" dirty="0"/>
          </a:p>
        </p:txBody>
      </p:sp>
      <p:sp>
        <p:nvSpPr>
          <p:cNvPr id="12" name="Text 10"/>
          <p:cNvSpPr/>
          <p:nvPr/>
        </p:nvSpPr>
        <p:spPr>
          <a:xfrm>
            <a:off x="990571" y="4111476"/>
            <a:ext cx="2197654" cy="25646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C9D3E3"/>
                </a:solidFill>
                <a:latin typeface="Inter" pitchFamily="34" charset="0"/>
                <a:ea typeface="Inter" pitchFamily="34" charset="-122"/>
                <a:cs typeface="Inter" pitchFamily="34" charset="-120"/>
              </a:rPr>
              <a:t>active recurring clients</a:t>
            </a:r>
            <a:endParaRPr lang="en-US" sz="1300" dirty="0"/>
          </a:p>
        </p:txBody>
      </p:sp>
      <p:sp>
        <p:nvSpPr>
          <p:cNvPr id="13" name="Shape 11"/>
          <p:cNvSpPr/>
          <p:nvPr/>
        </p:nvSpPr>
        <p:spPr>
          <a:xfrm>
            <a:off x="3505141" y="3349551"/>
            <a:ext cx="2489289" cy="1401851"/>
          </a:xfrm>
          <a:prstGeom prst="roundRect">
            <a:avLst>
              <a:gd name="adj" fmla="val 7248"/>
            </a:avLst>
          </a:prstGeom>
          <a:solidFill>
            <a:srgbClr val="14284A"/>
          </a:solidFill>
          <a:ln/>
        </p:spPr>
      </p:sp>
      <p:sp>
        <p:nvSpPr>
          <p:cNvPr id="14" name="Text 12"/>
          <p:cNvSpPr/>
          <p:nvPr/>
        </p:nvSpPr>
        <p:spPr>
          <a:xfrm>
            <a:off x="3682927" y="3527338"/>
            <a:ext cx="2197729" cy="558756"/>
          </a:xfrm>
          <a:prstGeom prst="rect">
            <a:avLst/>
          </a:prstGeom>
          <a:noFill/>
          <a:ln/>
        </p:spPr>
        <p:txBody>
          <a:bodyPr wrap="square" lIns="0" tIns="0" rIns="0" bIns="0" rtlCol="0" anchor="t">
            <a:normAutofit/>
          </a:bodyPr>
          <a:lstStyle/>
          <a:p>
            <a:pPr marL="0" indent="0" algn="l">
              <a:lnSpc>
                <a:spcPts val="4200"/>
              </a:lnSpc>
              <a:buNone/>
            </a:pPr>
            <a:r>
              <a:rPr lang="en-US" sz="3000" b="1" dirty="0">
                <a:solidFill>
                  <a:srgbClr val="F2A33A"/>
                </a:solidFill>
                <a:latin typeface="Sora" pitchFamily="34" charset="0"/>
                <a:ea typeface="Sora" pitchFamily="34" charset="-122"/>
                <a:cs typeface="Sora" pitchFamily="34" charset="-120"/>
              </a:rPr>
              <a:t>₹90 L</a:t>
            </a:r>
            <a:endParaRPr lang="en-US" sz="3000" dirty="0"/>
          </a:p>
        </p:txBody>
      </p:sp>
      <p:sp>
        <p:nvSpPr>
          <p:cNvPr id="15" name="Text 13"/>
          <p:cNvSpPr/>
          <p:nvPr/>
        </p:nvSpPr>
        <p:spPr>
          <a:xfrm>
            <a:off x="3682927" y="4111476"/>
            <a:ext cx="2197729" cy="48753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C9D3E3"/>
                </a:solidFill>
                <a:latin typeface="Inter" pitchFamily="34" charset="0"/>
                <a:ea typeface="Inter" pitchFamily="34" charset="-122"/>
                <a:cs typeface="Inter" pitchFamily="34" charset="-120"/>
              </a:rPr>
              <a:t>annual recurring revenue (ARR)</a:t>
            </a:r>
            <a:endParaRPr lang="en-US" sz="1300" dirty="0"/>
          </a:p>
        </p:txBody>
      </p:sp>
      <p:sp>
        <p:nvSpPr>
          <p:cNvPr id="16" name="Shape 14"/>
          <p:cNvSpPr/>
          <p:nvPr/>
        </p:nvSpPr>
        <p:spPr>
          <a:xfrm>
            <a:off x="6197571" y="3349551"/>
            <a:ext cx="2489215" cy="1401851"/>
          </a:xfrm>
          <a:prstGeom prst="roundRect">
            <a:avLst>
              <a:gd name="adj" fmla="val 7248"/>
            </a:avLst>
          </a:prstGeom>
          <a:solidFill>
            <a:srgbClr val="14284A"/>
          </a:solidFill>
          <a:ln/>
        </p:spPr>
      </p:sp>
      <p:sp>
        <p:nvSpPr>
          <p:cNvPr id="17" name="Text 15"/>
          <p:cNvSpPr/>
          <p:nvPr/>
        </p:nvSpPr>
        <p:spPr>
          <a:xfrm>
            <a:off x="6375357" y="3527338"/>
            <a:ext cx="2197654" cy="558756"/>
          </a:xfrm>
          <a:prstGeom prst="rect">
            <a:avLst/>
          </a:prstGeom>
          <a:noFill/>
          <a:ln/>
        </p:spPr>
        <p:txBody>
          <a:bodyPr wrap="square" lIns="0" tIns="0" rIns="0" bIns="0" rtlCol="0" anchor="t">
            <a:normAutofit/>
          </a:bodyPr>
          <a:lstStyle/>
          <a:p>
            <a:pPr marL="0" indent="0" algn="l">
              <a:lnSpc>
                <a:spcPts val="4200"/>
              </a:lnSpc>
              <a:buNone/>
            </a:pPr>
            <a:r>
              <a:rPr lang="en-US" sz="3000" b="1" dirty="0">
                <a:solidFill>
                  <a:srgbClr val="F2A33A"/>
                </a:solidFill>
                <a:latin typeface="Sora" pitchFamily="34" charset="0"/>
                <a:ea typeface="Sora" pitchFamily="34" charset="-122"/>
                <a:cs typeface="Sora" pitchFamily="34" charset="-120"/>
              </a:rPr>
              <a:t>₹2.81 L</a:t>
            </a:r>
            <a:endParaRPr lang="en-US" sz="3000" dirty="0"/>
          </a:p>
        </p:txBody>
      </p:sp>
      <p:sp>
        <p:nvSpPr>
          <p:cNvPr id="18" name="Text 16"/>
          <p:cNvSpPr/>
          <p:nvPr/>
        </p:nvSpPr>
        <p:spPr>
          <a:xfrm>
            <a:off x="6375357" y="4111476"/>
            <a:ext cx="2197654" cy="25646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C9D3E3"/>
                </a:solidFill>
                <a:latin typeface="Inter" pitchFamily="34" charset="0"/>
                <a:ea typeface="Inter" pitchFamily="34" charset="-122"/>
                <a:cs typeface="Inter" pitchFamily="34" charset="-120"/>
              </a:rPr>
              <a:t>average ARR per client</a:t>
            </a:r>
            <a:endParaRPr lang="en-US" sz="1300" dirty="0"/>
          </a:p>
        </p:txBody>
      </p:sp>
      <p:sp>
        <p:nvSpPr>
          <p:cNvPr id="19" name="Shape 17"/>
          <p:cNvSpPr/>
          <p:nvPr/>
        </p:nvSpPr>
        <p:spPr>
          <a:xfrm>
            <a:off x="8889928" y="3349551"/>
            <a:ext cx="2489215" cy="1401851"/>
          </a:xfrm>
          <a:prstGeom prst="roundRect">
            <a:avLst>
              <a:gd name="adj" fmla="val 7248"/>
            </a:avLst>
          </a:prstGeom>
          <a:solidFill>
            <a:srgbClr val="14284A"/>
          </a:solidFill>
          <a:ln/>
        </p:spPr>
      </p:sp>
      <p:sp>
        <p:nvSpPr>
          <p:cNvPr id="20" name="Text 18"/>
          <p:cNvSpPr/>
          <p:nvPr/>
        </p:nvSpPr>
        <p:spPr>
          <a:xfrm>
            <a:off x="9067713" y="3527338"/>
            <a:ext cx="2197654" cy="558756"/>
          </a:xfrm>
          <a:prstGeom prst="rect">
            <a:avLst/>
          </a:prstGeom>
          <a:noFill/>
          <a:ln/>
        </p:spPr>
        <p:txBody>
          <a:bodyPr wrap="square" lIns="0" tIns="0" rIns="0" bIns="0" rtlCol="0" anchor="t">
            <a:normAutofit/>
          </a:bodyPr>
          <a:lstStyle/>
          <a:p>
            <a:pPr marL="0" indent="0" algn="l">
              <a:lnSpc>
                <a:spcPts val="4200"/>
              </a:lnSpc>
              <a:buNone/>
            </a:pPr>
            <a:r>
              <a:rPr lang="en-US" sz="3000" b="1" dirty="0">
                <a:solidFill>
                  <a:srgbClr val="F2A33A"/>
                </a:solidFill>
                <a:latin typeface="Sora" pitchFamily="34" charset="0"/>
                <a:ea typeface="Sora" pitchFamily="34" charset="-122"/>
                <a:cs typeface="Sora" pitchFamily="34" charset="-120"/>
              </a:rPr>
              <a:t>14·8·6·4</a:t>
            </a:r>
            <a:endParaRPr lang="en-US" sz="3000" dirty="0"/>
          </a:p>
        </p:txBody>
      </p:sp>
      <p:sp>
        <p:nvSpPr>
          <p:cNvPr id="21" name="Text 19"/>
          <p:cNvSpPr/>
          <p:nvPr/>
        </p:nvSpPr>
        <p:spPr>
          <a:xfrm>
            <a:off x="9067713" y="4111476"/>
            <a:ext cx="2197654" cy="48753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C9D3E3"/>
                </a:solidFill>
                <a:latin typeface="Inter" pitchFamily="34" charset="0"/>
                <a:ea typeface="Inter" pitchFamily="34" charset="-122"/>
                <a:cs typeface="Inter" pitchFamily="34" charset="-120"/>
              </a:rPr>
              <a:t>Retail · IT · Logistics &amp; Mfg · Professional</a:t>
            </a:r>
            <a:endParaRPr lang="en-US" sz="1300" dirty="0"/>
          </a:p>
        </p:txBody>
      </p:sp>
      <p:sp>
        <p:nvSpPr>
          <p:cNvPr id="22" name="Text 20"/>
          <p:cNvSpPr/>
          <p:nvPr/>
        </p:nvSpPr>
        <p:spPr>
          <a:xfrm>
            <a:off x="812785" y="6238211"/>
            <a:ext cx="5886375" cy="23875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9B6CC"/>
                </a:solidFill>
                <a:latin typeface="Inter" pitchFamily="34" charset="0"/>
                <a:ea typeface="Inter" pitchFamily="34" charset="-122"/>
                <a:cs typeface="Inter" pitchFamily="34" charset="-120"/>
              </a:rPr>
              <a:t>Anvexa · Investor Pitch</a:t>
            </a:r>
            <a:endParaRPr lang="en-US" sz="1200" dirty="0"/>
          </a:p>
        </p:txBody>
      </p:sp>
      <p:sp>
        <p:nvSpPr>
          <p:cNvPr id="23" name="Text 21"/>
          <p:cNvSpPr/>
          <p:nvPr/>
        </p:nvSpPr>
        <p:spPr>
          <a:xfrm>
            <a:off x="10693416" y="6238211"/>
            <a:ext cx="685727" cy="238757"/>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A9B6CC"/>
                </a:solidFill>
                <a:latin typeface="Inter" pitchFamily="34" charset="0"/>
                <a:ea typeface="Inter" pitchFamily="34" charset="-122"/>
                <a:cs typeface="Inter"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88DE112-D920-DC78-1E83-5B18C996E7F9}"/>
              </a:ext>
            </a:extLst>
          </p:cNvPr>
          <p:cNvSpPr>
            <a:spLocks noGrp="1"/>
          </p:cNvSpPr>
          <p:nvPr>
            <p:ph type="body" idx="101"/>
          </p:nvPr>
        </p:nvSpPr>
        <p:spPr/>
        <p:txBody>
          <a:bodyPr/>
          <a:lstStyle/>
          <a:p>
            <a:endParaRPr lang="en-US"/>
          </a:p>
        </p:txBody>
      </p:sp>
      <p:pic>
        <p:nvPicPr>
          <p:cNvPr id="6" name="Picture 5">
            <a:extLst>
              <a:ext uri="{FF2B5EF4-FFF2-40B4-BE49-F238E27FC236}">
                <a16:creationId xmlns:a16="http://schemas.microsoft.com/office/drawing/2014/main" id="{8D7DA932-3BB6-89B1-567C-48CCF45BCB05}"/>
              </a:ext>
            </a:extLst>
          </p:cNvPr>
          <p:cNvPicPr>
            <a:picLocks noChangeAspect="1"/>
          </p:cNvPicPr>
          <p:nvPr/>
        </p:nvPicPr>
        <p:blipFill>
          <a:blip r:embed="rId2"/>
          <a:srcRect t="4137" r="202" b="4360"/>
          <a:stretch>
            <a:fillRect/>
          </a:stretch>
        </p:blipFill>
        <p:spPr>
          <a:xfrm>
            <a:off x="811269" y="1537390"/>
            <a:ext cx="10561203" cy="4509498"/>
          </a:xfrm>
          <a:prstGeom prst="rect">
            <a:avLst/>
          </a:prstGeom>
        </p:spPr>
      </p:pic>
      <p:sp>
        <p:nvSpPr>
          <p:cNvPr id="8" name="Text 0">
            <a:extLst>
              <a:ext uri="{FF2B5EF4-FFF2-40B4-BE49-F238E27FC236}">
                <a16:creationId xmlns:a16="http://schemas.microsoft.com/office/drawing/2014/main" id="{BD6E48B1-E644-6E0E-E78C-52D2CD1246B6}"/>
              </a:ext>
            </a:extLst>
          </p:cNvPr>
          <p:cNvSpPr txBox="1">
            <a:spLocks/>
          </p:cNvSpPr>
          <p:nvPr/>
        </p:nvSpPr>
        <p:spPr>
          <a:xfrm>
            <a:off x="812785" y="720822"/>
            <a:ext cx="10883348" cy="444471"/>
          </a:xfrm>
          <a:prstGeom prst="rect">
            <a:avLst/>
          </a:prstGeom>
          <a:noFill/>
          <a:ln/>
        </p:spPr>
        <p:txBody>
          <a:bodyPr wrap="square" lIns="0" tIns="0" rIns="0" bIns="0" rtlCol="0" anchor="t">
            <a:normAutofit/>
          </a:bodyPr>
          <a:lstStyle>
            <a:lvl1pPr marL="0" indent="0" algn="l" defTabSz="914400" rtl="0" eaLnBrk="1" latinLnBrk="0" hangingPunct="1">
              <a:lnSpc>
                <a:spcPct val="115000"/>
              </a:lnSpc>
              <a:spcBef>
                <a:spcPct val="0"/>
              </a:spcBef>
              <a:buNone/>
              <a:defRPr lang="en-US" sz="3000" kern="1200" dirty="0">
                <a:solidFill>
                  <a:srgbClr val="0E1A2F"/>
                </a:solidFill>
                <a:latin typeface="Sora" pitchFamily="34" charset="0"/>
                <a:ea typeface="Sora" pitchFamily="34" charset="-122"/>
                <a:cs typeface="Sora" pitchFamily="34" charset="-120"/>
              </a:defRPr>
            </a:lvl1pPr>
          </a:lstStyle>
          <a:p>
            <a:pPr>
              <a:lnSpc>
                <a:spcPts val="3300"/>
              </a:lnSpc>
            </a:pPr>
            <a:r>
              <a:rPr lang="en-US" b="1">
                <a:latin typeface="Sora"/>
              </a:rPr>
              <a:t>Three-Year Financial Performance</a:t>
            </a:r>
            <a:endParaRPr lang="en-US">
              <a:latin typeface="Sora"/>
            </a:endParaRPr>
          </a:p>
        </p:txBody>
      </p:sp>
    </p:spTree>
    <p:extLst>
      <p:ext uri="{BB962C8B-B14F-4D97-AF65-F5344CB8AC3E}">
        <p14:creationId xmlns:p14="http://schemas.microsoft.com/office/powerpoint/2010/main" val="30731264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5F3EC"/>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785" y="812788"/>
            <a:ext cx="10883348" cy="444471"/>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0E1A2F"/>
                </a:solidFill>
                <a:latin typeface="Sora" pitchFamily="34" charset="0"/>
                <a:ea typeface="Sora" pitchFamily="34" charset="-122"/>
                <a:cs typeface="Sora" pitchFamily="34" charset="-120"/>
              </a:rPr>
              <a:t>Financial Performance</a:t>
            </a:r>
            <a:endParaRPr lang="en-US" sz="3000" dirty="0"/>
          </a:p>
        </p:txBody>
      </p:sp>
      <p:sp>
        <p:nvSpPr>
          <p:cNvPr id="3" name="Text 1"/>
          <p:cNvSpPr/>
          <p:nvPr/>
        </p:nvSpPr>
        <p:spPr>
          <a:xfrm>
            <a:off x="812785" y="1409644"/>
            <a:ext cx="4447465" cy="238684"/>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F7F74"/>
                </a:solidFill>
                <a:latin typeface="Inter" pitchFamily="34" charset="0"/>
                <a:ea typeface="Inter" pitchFamily="34" charset="-122"/>
                <a:cs typeface="Inter" pitchFamily="34" charset="-120"/>
              </a:rPr>
              <a:t>Revenue</a:t>
            </a:r>
            <a:endParaRPr lang="en-US" sz="1400" dirty="0"/>
          </a:p>
        </p:txBody>
      </p:sp>
      <p:sp>
        <p:nvSpPr>
          <p:cNvPr id="4" name="Text 2"/>
          <p:cNvSpPr/>
          <p:nvPr/>
        </p:nvSpPr>
        <p:spPr>
          <a:xfrm>
            <a:off x="956109" y="3530501"/>
            <a:ext cx="919780" cy="292041"/>
          </a:xfrm>
          <a:prstGeom prst="rect">
            <a:avLst/>
          </a:prstGeom>
          <a:noFill/>
          <a:ln/>
        </p:spPr>
        <p:txBody>
          <a:bodyPr wrap="square" lIns="0" tIns="0" rIns="0" bIns="0" rtlCol="0" anchor="t">
            <a:normAutofit/>
          </a:bodyPr>
          <a:lstStyle/>
          <a:p>
            <a:pPr marL="0" indent="0" algn="ctr">
              <a:lnSpc>
                <a:spcPts val="2100"/>
              </a:lnSpc>
              <a:buNone/>
            </a:pPr>
            <a:r>
              <a:rPr lang="en-US" sz="1500" b="1" dirty="0">
                <a:solidFill>
                  <a:srgbClr val="0E1A2F"/>
                </a:solidFill>
                <a:latin typeface="Inter" pitchFamily="34" charset="0"/>
                <a:ea typeface="Inter" pitchFamily="34" charset="-122"/>
                <a:cs typeface="Inter" pitchFamily="34" charset="-120"/>
              </a:rPr>
              <a:t>₹1.20 Cr</a:t>
            </a:r>
            <a:endParaRPr lang="en-US" sz="1500" dirty="0"/>
          </a:p>
        </p:txBody>
      </p:sp>
      <p:sp>
        <p:nvSpPr>
          <p:cNvPr id="5" name="Shape 3"/>
          <p:cNvSpPr/>
          <p:nvPr/>
        </p:nvSpPr>
        <p:spPr>
          <a:xfrm>
            <a:off x="876285" y="3847926"/>
            <a:ext cx="1079427" cy="914356"/>
          </a:xfrm>
          <a:custGeom>
            <a:avLst/>
            <a:gdLst/>
            <a:ahLst/>
            <a:cxnLst/>
            <a:rect l="l" t="t" r="r" b="b"/>
            <a:pathLst>
              <a:path w="1079427" h="914356">
                <a:moveTo>
                  <a:pt x="50800" y="0"/>
                </a:moveTo>
                <a:lnTo>
                  <a:pt x="1028627" y="0"/>
                </a:lnTo>
                <a:arcTo wR="50800" hR="50800" stAng="16200000" swAng="5400000"/>
                <a:lnTo>
                  <a:pt x="1079427" y="914356"/>
                </a:lnTo>
                <a:lnTo>
                  <a:pt x="0" y="914356"/>
                </a:lnTo>
                <a:lnTo>
                  <a:pt x="0" y="50800"/>
                </a:lnTo>
                <a:arcTo wR="50800" hR="50800" stAng="10800000" swAng="5400000"/>
                <a:close/>
              </a:path>
            </a:pathLst>
          </a:custGeom>
          <a:solidFill>
            <a:srgbClr val="1FB6A6"/>
          </a:solidFill>
          <a:ln/>
        </p:spPr>
      </p:sp>
      <p:sp>
        <p:nvSpPr>
          <p:cNvPr id="6" name="Text 4"/>
          <p:cNvSpPr/>
          <p:nvPr/>
        </p:nvSpPr>
        <p:spPr>
          <a:xfrm>
            <a:off x="1158081" y="4813064"/>
            <a:ext cx="515761" cy="238757"/>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55607A"/>
                </a:solidFill>
                <a:latin typeface="Inter" pitchFamily="34" charset="0"/>
                <a:ea typeface="Inter" pitchFamily="34" charset="-122"/>
                <a:cs typeface="Inter" pitchFamily="34" charset="-120"/>
              </a:rPr>
              <a:t>Year 1</a:t>
            </a:r>
            <a:endParaRPr lang="en-US" sz="1200" dirty="0"/>
          </a:p>
        </p:txBody>
      </p:sp>
      <p:sp>
        <p:nvSpPr>
          <p:cNvPr id="7" name="Text 5"/>
          <p:cNvSpPr/>
          <p:nvPr/>
        </p:nvSpPr>
        <p:spPr>
          <a:xfrm>
            <a:off x="2264951" y="2920932"/>
            <a:ext cx="968728" cy="292041"/>
          </a:xfrm>
          <a:prstGeom prst="rect">
            <a:avLst/>
          </a:prstGeom>
          <a:noFill/>
          <a:ln/>
        </p:spPr>
        <p:txBody>
          <a:bodyPr wrap="square" lIns="0" tIns="0" rIns="0" bIns="0" rtlCol="0" anchor="t">
            <a:normAutofit/>
          </a:bodyPr>
          <a:lstStyle/>
          <a:p>
            <a:pPr marL="0" indent="0" algn="ctr">
              <a:lnSpc>
                <a:spcPts val="2100"/>
              </a:lnSpc>
              <a:buNone/>
            </a:pPr>
            <a:r>
              <a:rPr lang="en-US" sz="1500" b="1" dirty="0">
                <a:solidFill>
                  <a:srgbClr val="0E1A2F"/>
                </a:solidFill>
                <a:latin typeface="Inter" pitchFamily="34" charset="0"/>
                <a:ea typeface="Inter" pitchFamily="34" charset="-122"/>
                <a:cs typeface="Inter" pitchFamily="34" charset="-120"/>
              </a:rPr>
              <a:t>₹2.00 Cr</a:t>
            </a:r>
            <a:endParaRPr lang="en-US" sz="1500" dirty="0"/>
          </a:p>
        </p:txBody>
      </p:sp>
      <p:sp>
        <p:nvSpPr>
          <p:cNvPr id="8" name="Shape 6"/>
          <p:cNvSpPr/>
          <p:nvPr/>
        </p:nvSpPr>
        <p:spPr>
          <a:xfrm>
            <a:off x="2209639" y="3238357"/>
            <a:ext cx="1079427" cy="1523927"/>
          </a:xfrm>
          <a:custGeom>
            <a:avLst/>
            <a:gdLst/>
            <a:ahLst/>
            <a:cxnLst/>
            <a:rect l="l" t="t" r="r" b="b"/>
            <a:pathLst>
              <a:path w="1079427" h="1523927">
                <a:moveTo>
                  <a:pt x="50800" y="0"/>
                </a:moveTo>
                <a:lnTo>
                  <a:pt x="1028627" y="0"/>
                </a:lnTo>
                <a:arcTo wR="50800" hR="50800" stAng="16200000" swAng="5400000"/>
                <a:lnTo>
                  <a:pt x="1079427" y="1523927"/>
                </a:lnTo>
                <a:lnTo>
                  <a:pt x="0" y="1523927"/>
                </a:lnTo>
                <a:lnTo>
                  <a:pt x="0" y="50800"/>
                </a:lnTo>
                <a:arcTo wR="50800" hR="50800" stAng="10800000" swAng="5400000"/>
                <a:close/>
              </a:path>
            </a:pathLst>
          </a:custGeom>
          <a:solidFill>
            <a:srgbClr val="1FB6A6"/>
          </a:solidFill>
          <a:ln/>
        </p:spPr>
      </p:sp>
      <p:sp>
        <p:nvSpPr>
          <p:cNvPr id="9" name="Text 7"/>
          <p:cNvSpPr/>
          <p:nvPr/>
        </p:nvSpPr>
        <p:spPr>
          <a:xfrm>
            <a:off x="2472906" y="4813064"/>
            <a:ext cx="552891" cy="238757"/>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55607A"/>
                </a:solidFill>
                <a:latin typeface="Inter" pitchFamily="34" charset="0"/>
                <a:ea typeface="Inter" pitchFamily="34" charset="-122"/>
                <a:cs typeface="Inter" pitchFamily="34" charset="-120"/>
              </a:rPr>
              <a:t>Year 2</a:t>
            </a:r>
            <a:endParaRPr lang="en-US" sz="1200" dirty="0"/>
          </a:p>
        </p:txBody>
      </p:sp>
      <p:sp>
        <p:nvSpPr>
          <p:cNvPr id="10" name="Text 8"/>
          <p:cNvSpPr/>
          <p:nvPr/>
        </p:nvSpPr>
        <p:spPr>
          <a:xfrm>
            <a:off x="3598922" y="2158932"/>
            <a:ext cx="967493" cy="292041"/>
          </a:xfrm>
          <a:prstGeom prst="rect">
            <a:avLst/>
          </a:prstGeom>
          <a:noFill/>
          <a:ln/>
        </p:spPr>
        <p:txBody>
          <a:bodyPr wrap="square" lIns="0" tIns="0" rIns="0" bIns="0" rtlCol="0" anchor="t">
            <a:normAutofit/>
          </a:bodyPr>
          <a:lstStyle/>
          <a:p>
            <a:pPr marL="0" indent="0" algn="ctr">
              <a:lnSpc>
                <a:spcPts val="2100"/>
              </a:lnSpc>
              <a:buNone/>
            </a:pPr>
            <a:r>
              <a:rPr lang="en-US" sz="1500" b="1" dirty="0">
                <a:solidFill>
                  <a:srgbClr val="0E1A2F"/>
                </a:solidFill>
                <a:latin typeface="Inter" pitchFamily="34" charset="0"/>
                <a:ea typeface="Inter" pitchFamily="34" charset="-122"/>
                <a:cs typeface="Inter" pitchFamily="34" charset="-120"/>
              </a:rPr>
              <a:t>₹3.00 Cr</a:t>
            </a:r>
            <a:endParaRPr lang="en-US" sz="1500" dirty="0"/>
          </a:p>
        </p:txBody>
      </p:sp>
      <p:sp>
        <p:nvSpPr>
          <p:cNvPr id="11" name="Shape 9"/>
          <p:cNvSpPr/>
          <p:nvPr/>
        </p:nvSpPr>
        <p:spPr>
          <a:xfrm>
            <a:off x="3542992" y="2476357"/>
            <a:ext cx="1079427" cy="2285927"/>
          </a:xfrm>
          <a:custGeom>
            <a:avLst/>
            <a:gdLst/>
            <a:ahLst/>
            <a:cxnLst/>
            <a:rect l="l" t="t" r="r" b="b"/>
            <a:pathLst>
              <a:path w="1079427" h="2285927">
                <a:moveTo>
                  <a:pt x="50800" y="0"/>
                </a:moveTo>
                <a:lnTo>
                  <a:pt x="1028627" y="0"/>
                </a:lnTo>
                <a:arcTo wR="50800" hR="50800" stAng="16200000" swAng="5400000"/>
                <a:lnTo>
                  <a:pt x="1079427" y="2285927"/>
                </a:lnTo>
                <a:lnTo>
                  <a:pt x="0" y="2285927"/>
                </a:lnTo>
                <a:lnTo>
                  <a:pt x="0" y="50800"/>
                </a:lnTo>
                <a:arcTo wR="50800" hR="50800" stAng="10800000" swAng="5400000"/>
                <a:close/>
              </a:path>
            </a:pathLst>
          </a:custGeom>
          <a:solidFill>
            <a:srgbClr val="1FB6A6"/>
          </a:solidFill>
          <a:ln/>
        </p:spPr>
      </p:sp>
      <p:sp>
        <p:nvSpPr>
          <p:cNvPr id="12" name="Text 10"/>
          <p:cNvSpPr/>
          <p:nvPr/>
        </p:nvSpPr>
        <p:spPr>
          <a:xfrm>
            <a:off x="3805554" y="4813064"/>
            <a:ext cx="554302" cy="238757"/>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55607A"/>
                </a:solidFill>
                <a:latin typeface="Inter" pitchFamily="34" charset="0"/>
                <a:ea typeface="Inter" pitchFamily="34" charset="-122"/>
                <a:cs typeface="Inter" pitchFamily="34" charset="-120"/>
              </a:rPr>
              <a:t>Year 3</a:t>
            </a:r>
            <a:endParaRPr lang="en-US" sz="1200" dirty="0"/>
          </a:p>
        </p:txBody>
      </p:sp>
      <p:sp>
        <p:nvSpPr>
          <p:cNvPr id="13" name="Text 11"/>
          <p:cNvSpPr/>
          <p:nvPr/>
        </p:nvSpPr>
        <p:spPr>
          <a:xfrm>
            <a:off x="812785" y="5127997"/>
            <a:ext cx="4447465" cy="66547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B3A55"/>
                </a:solidFill>
                <a:latin typeface="Inter" pitchFamily="34" charset="0"/>
                <a:ea typeface="Inter" pitchFamily="34" charset="-122"/>
                <a:cs typeface="Inter" pitchFamily="34" charset="-120"/>
              </a:rPr>
              <a:t>Net profit ₹6 L → ₹15 L → ₹36 L (margin 5% → 7.5% → 12%). Growth +66.7% in Year 2, +50% in Year 3. Cumulative revenue ₹6.20 Cr.</a:t>
            </a:r>
            <a:endParaRPr lang="en-US" sz="1200" dirty="0"/>
          </a:p>
        </p:txBody>
      </p:sp>
      <p:sp>
        <p:nvSpPr>
          <p:cNvPr id="15" name="Text 12"/>
          <p:cNvSpPr/>
          <p:nvPr/>
        </p:nvSpPr>
        <p:spPr>
          <a:xfrm>
            <a:off x="812785" y="6238218"/>
            <a:ext cx="5886375" cy="23875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07A"/>
                </a:solidFill>
                <a:latin typeface="Inter" pitchFamily="34" charset="0"/>
                <a:ea typeface="Inter" pitchFamily="34" charset="-122"/>
                <a:cs typeface="Inter" pitchFamily="34" charset="-120"/>
              </a:rPr>
              <a:t>Anvexa · Investor Pitch</a:t>
            </a:r>
            <a:endParaRPr lang="en-US" sz="1200" dirty="0"/>
          </a:p>
        </p:txBody>
      </p:sp>
      <p:sp>
        <p:nvSpPr>
          <p:cNvPr id="16" name="Text 13"/>
          <p:cNvSpPr/>
          <p:nvPr/>
        </p:nvSpPr>
        <p:spPr>
          <a:xfrm>
            <a:off x="10693416" y="6238218"/>
            <a:ext cx="685727" cy="238757"/>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5607A"/>
                </a:solidFill>
                <a:latin typeface="Inter" pitchFamily="34" charset="0"/>
                <a:ea typeface="Inter" pitchFamily="34" charset="-122"/>
                <a:cs typeface="Inter" pitchFamily="34" charset="-120"/>
              </a:rPr>
              <a:t>9</a:t>
            </a:r>
            <a:endParaRPr lang="en-US" sz="1200" dirty="0"/>
          </a:p>
        </p:txBody>
      </p:sp>
      <p:graphicFrame>
        <p:nvGraphicFramePr>
          <p:cNvPr id="20" name="Table 0">
            <a:extLst>
              <a:ext uri="{FF2B5EF4-FFF2-40B4-BE49-F238E27FC236}">
                <a16:creationId xmlns:a16="http://schemas.microsoft.com/office/drawing/2014/main" id="{9A085987-E070-76AB-550B-E960616B47F0}"/>
              </a:ext>
            </a:extLst>
          </p:cNvPr>
          <p:cNvGraphicFramePr>
            <a:graphicFrameLocks noGrp="1"/>
          </p:cNvGraphicFramePr>
          <p:nvPr>
            <p:extLst>
              <p:ext uri="{D42A27DB-BD31-4B8C-83A1-F6EECF244321}">
                <p14:modId xmlns:p14="http://schemas.microsoft.com/office/powerpoint/2010/main" val="4068345635"/>
              </p:ext>
            </p:extLst>
          </p:nvPr>
        </p:nvGraphicFramePr>
        <p:xfrm>
          <a:off x="5782959" y="1563569"/>
          <a:ext cx="5451520" cy="3496180"/>
        </p:xfrm>
        <a:graphic>
          <a:graphicData uri="http://schemas.openxmlformats.org/drawingml/2006/table">
            <a:tbl>
              <a:tblPr/>
              <a:tblGrid>
                <a:gridCol w="3925094">
                  <a:extLst>
                    <a:ext uri="{9D8B030D-6E8A-4147-A177-3AD203B41FA5}">
                      <a16:colId xmlns:a16="http://schemas.microsoft.com/office/drawing/2014/main" val="20000"/>
                    </a:ext>
                  </a:extLst>
                </a:gridCol>
                <a:gridCol w="1526426">
                  <a:extLst>
                    <a:ext uri="{9D8B030D-6E8A-4147-A177-3AD203B41FA5}">
                      <a16:colId xmlns:a16="http://schemas.microsoft.com/office/drawing/2014/main" val="20001"/>
                    </a:ext>
                  </a:extLst>
                </a:gridCol>
              </a:tblGrid>
              <a:tr h="349618">
                <a:tc>
                  <a:txBody>
                    <a:bodyPr/>
                    <a:lstStyle/>
                    <a:p>
                      <a:pPr marL="0" indent="0">
                        <a:lnSpc>
                          <a:spcPts val="1680"/>
                        </a:lnSpc>
                        <a:buNone/>
                      </a:pPr>
                      <a:r>
                        <a:rPr lang="en-US" sz="1200" b="1" dirty="0">
                          <a:solidFill>
                            <a:srgbClr val="F5F3EC"/>
                          </a:solidFill>
                          <a:latin typeface="Inter" pitchFamily="34" charset="0"/>
                          <a:ea typeface="Inter" pitchFamily="34" charset="-122"/>
                          <a:cs typeface="Inter" pitchFamily="34" charset="-120"/>
                        </a:rPr>
                        <a:t>Year 3 Profit &amp; Loss</a:t>
                      </a:r>
                      <a:endParaRPr lang="en-US" sz="1200" dirty="0">
                        <a:latin typeface="Inter" charset="0"/>
                        <a:ea typeface="Inter" charset="0"/>
                        <a:cs typeface="Inter" charset="0"/>
                      </a:endParaRPr>
                    </a:p>
                  </a:txBody>
                  <a:tcPr marL="88900" marR="88900" marT="63500" marB="63500">
                    <a:lnL w="12700" cap="flat" cmpd="sng" algn="ctr">
                      <a:solidFill>
                        <a:srgbClr val="C4C2BC"/>
                      </a:solidFill>
                      <a:prstDash val="solid"/>
                      <a:round/>
                      <a:headEnd type="none" w="med" len="med"/>
                      <a:tailEnd type="none" w="med" len="med"/>
                    </a:lnL>
                    <a:lnR w="12700" cap="flat" cmpd="sng" algn="ctr">
                      <a:solidFill>
                        <a:srgbClr val="0F1929"/>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0F1929"/>
                      </a:solidFill>
                      <a:prstDash val="solid"/>
                      <a:round/>
                      <a:headEnd type="none" w="med" len="med"/>
                      <a:tailEnd type="none" w="med" len="med"/>
                    </a:lnB>
                    <a:solidFill>
                      <a:srgbClr val="0E1A2F"/>
                    </a:solidFill>
                  </a:tcPr>
                </a:tc>
                <a:tc>
                  <a:txBody>
                    <a:bodyPr/>
                    <a:lstStyle/>
                    <a:p>
                      <a:pPr marL="0" indent="0">
                        <a:lnSpc>
                          <a:spcPts val="1680"/>
                        </a:lnSpc>
                        <a:buNone/>
                      </a:pPr>
                      <a:r>
                        <a:rPr lang="en-US" sz="1200" b="1" dirty="0">
                          <a:solidFill>
                            <a:srgbClr val="F5F3EC"/>
                          </a:solidFill>
                          <a:latin typeface="Inter" pitchFamily="34" charset="0"/>
                          <a:ea typeface="Inter" pitchFamily="34" charset="-122"/>
                          <a:cs typeface="Inter" pitchFamily="34" charset="-120"/>
                        </a:rPr>
                        <a:t>₹ lakh</a:t>
                      </a:r>
                      <a:endParaRPr lang="en-US" sz="1200" dirty="0">
                        <a:latin typeface="Inter" charset="0"/>
                        <a:ea typeface="Inter" charset="0"/>
                        <a:cs typeface="Inter" charset="0"/>
                      </a:endParaRPr>
                    </a:p>
                  </a:txBody>
                  <a:tcPr marL="88900" marR="88900" marT="63500" marB="63500">
                    <a:lnL w="12700" cap="flat" cmpd="sng" algn="ctr">
                      <a:solidFill>
                        <a:srgbClr val="0F1929"/>
                      </a:solidFill>
                      <a:prstDash val="solid"/>
                      <a:round/>
                      <a:headEnd type="none" w="med" len="med"/>
                      <a:tailEnd type="none" w="med" len="med"/>
                    </a:lnL>
                    <a:lnR w="12700" cap="flat" cmpd="sng" algn="ctr">
                      <a:solidFill>
                        <a:srgbClr val="0F1929"/>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0F1929"/>
                      </a:solidFill>
                      <a:prstDash val="solid"/>
                      <a:round/>
                      <a:headEnd type="none" w="med" len="med"/>
                      <a:tailEnd type="none" w="med" len="med"/>
                    </a:lnB>
                    <a:solidFill>
                      <a:srgbClr val="0E1A2F"/>
                    </a:solidFill>
                  </a:tcPr>
                </a:tc>
                <a:extLst>
                  <a:ext uri="{0D108BD9-81ED-4DB2-BD59-A6C34878D82A}">
                    <a16:rowId xmlns:a16="http://schemas.microsoft.com/office/drawing/2014/main" val="10000"/>
                  </a:ext>
                </a:extLst>
              </a:tr>
              <a:tr h="349618">
                <a:tc>
                  <a:txBody>
                    <a:bodyPr/>
                    <a:lstStyle/>
                    <a:p>
                      <a:pPr marL="0" indent="0">
                        <a:lnSpc>
                          <a:spcPts val="1680"/>
                        </a:lnSpc>
                        <a:buNone/>
                      </a:pPr>
                      <a:r>
                        <a:rPr lang="en-US" sz="1200" dirty="0">
                          <a:solidFill>
                            <a:srgbClr val="0E1A2F"/>
                          </a:solidFill>
                          <a:latin typeface="Inter" pitchFamily="34" charset="0"/>
                          <a:ea typeface="Inter" pitchFamily="34" charset="-122"/>
                          <a:cs typeface="Inter" pitchFamily="34" charset="-120"/>
                        </a:rPr>
                        <a:t>Revenue</a:t>
                      </a:r>
                      <a:endParaRPr lang="en-US" sz="1200" dirty="0">
                        <a:latin typeface="Inter" charset="0"/>
                        <a:ea typeface="Inter" charset="0"/>
                        <a:cs typeface="Inter" charset="0"/>
                      </a:endParaRPr>
                    </a:p>
                  </a:txBody>
                  <a:tcPr marL="88900" marR="88900" marT="63500" marB="63500">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0F1929"/>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1680"/>
                        </a:lnSpc>
                        <a:buNone/>
                      </a:pPr>
                      <a:r>
                        <a:rPr lang="en-US" sz="1200" dirty="0">
                          <a:solidFill>
                            <a:srgbClr val="0E1A2F"/>
                          </a:solidFill>
                          <a:latin typeface="Inter" pitchFamily="34" charset="0"/>
                          <a:ea typeface="Inter" pitchFamily="34" charset="-122"/>
                          <a:cs typeface="Inter" pitchFamily="34" charset="-120"/>
                        </a:rPr>
                        <a:t>₹300 L</a:t>
                      </a:r>
                      <a:endParaRPr lang="en-US" sz="1200" dirty="0">
                        <a:latin typeface="Inter" charset="0"/>
                        <a:ea typeface="Inter" charset="0"/>
                        <a:cs typeface="Inter" charset="0"/>
                      </a:endParaRPr>
                    </a:p>
                  </a:txBody>
                  <a:tcPr marL="88900" marR="88900" marT="63500" marB="63500">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0F1929"/>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extLst>
                  <a:ext uri="{0D108BD9-81ED-4DB2-BD59-A6C34878D82A}">
                    <a16:rowId xmlns:a16="http://schemas.microsoft.com/office/drawing/2014/main" val="10001"/>
                  </a:ext>
                </a:extLst>
              </a:tr>
              <a:tr h="349618">
                <a:tc>
                  <a:txBody>
                    <a:bodyPr/>
                    <a:lstStyle/>
                    <a:p>
                      <a:pPr marL="0" indent="0">
                        <a:lnSpc>
                          <a:spcPts val="1680"/>
                        </a:lnSpc>
                        <a:buNone/>
                      </a:pPr>
                      <a:r>
                        <a:rPr lang="en-US" sz="1200" dirty="0">
                          <a:solidFill>
                            <a:srgbClr val="0E1A2F"/>
                          </a:solidFill>
                          <a:latin typeface="Inter" pitchFamily="34" charset="0"/>
                          <a:ea typeface="Inter" pitchFamily="34" charset="-122"/>
                          <a:cs typeface="Inter" pitchFamily="34" charset="-120"/>
                        </a:rPr>
                        <a:t>Direct delivery costs</a:t>
                      </a:r>
                      <a:endParaRPr lang="en-US" sz="1200" dirty="0">
                        <a:latin typeface="Inter" charset="0"/>
                        <a:ea typeface="Inter" charset="0"/>
                        <a:cs typeface="Inter" charset="0"/>
                      </a:endParaRPr>
                    </a:p>
                  </a:txBody>
                  <a:tcPr marL="88900" marR="88900" marT="63500" marB="63500">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1680"/>
                        </a:lnSpc>
                        <a:buNone/>
                      </a:pPr>
                      <a:r>
                        <a:rPr lang="en-US" sz="1200" dirty="0">
                          <a:solidFill>
                            <a:srgbClr val="0E1A2F"/>
                          </a:solidFill>
                          <a:latin typeface="Inter" pitchFamily="34" charset="0"/>
                          <a:ea typeface="Inter" pitchFamily="34" charset="-122"/>
                          <a:cs typeface="Inter" pitchFamily="34" charset="-120"/>
                        </a:rPr>
                        <a:t>(₹126 L)</a:t>
                      </a:r>
                      <a:endParaRPr lang="en-US" sz="1200" dirty="0">
                        <a:latin typeface="Inter" charset="0"/>
                        <a:ea typeface="Inter" charset="0"/>
                        <a:cs typeface="Inter" charset="0"/>
                      </a:endParaRPr>
                    </a:p>
                  </a:txBody>
                  <a:tcPr marL="88900" marR="88900" marT="63500" marB="63500">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extLst>
                  <a:ext uri="{0D108BD9-81ED-4DB2-BD59-A6C34878D82A}">
                    <a16:rowId xmlns:a16="http://schemas.microsoft.com/office/drawing/2014/main" val="10002"/>
                  </a:ext>
                </a:extLst>
              </a:tr>
              <a:tr h="349618">
                <a:tc>
                  <a:txBody>
                    <a:bodyPr/>
                    <a:lstStyle/>
                    <a:p>
                      <a:pPr marL="0" indent="0">
                        <a:lnSpc>
                          <a:spcPts val="1680"/>
                        </a:lnSpc>
                        <a:buNone/>
                      </a:pPr>
                      <a:r>
                        <a:rPr lang="en-US" sz="1200" dirty="0">
                          <a:solidFill>
                            <a:srgbClr val="0E1A2F"/>
                          </a:solidFill>
                          <a:latin typeface="Inter" pitchFamily="34" charset="0"/>
                          <a:ea typeface="Inter" pitchFamily="34" charset="-122"/>
                          <a:cs typeface="Inter" pitchFamily="34" charset="-120"/>
                        </a:rPr>
                        <a:t>Gross profit · 58%</a:t>
                      </a:r>
                      <a:endParaRPr lang="en-US" sz="1200" dirty="0">
                        <a:latin typeface="Inter" charset="0"/>
                        <a:ea typeface="Inter" charset="0"/>
                        <a:cs typeface="Inter" charset="0"/>
                      </a:endParaRPr>
                    </a:p>
                  </a:txBody>
                  <a:tcPr marL="88900" marR="88900" marT="63500" marB="63500">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1680"/>
                        </a:lnSpc>
                        <a:buNone/>
                      </a:pPr>
                      <a:r>
                        <a:rPr lang="en-US" sz="1200" dirty="0">
                          <a:solidFill>
                            <a:srgbClr val="0E1A2F"/>
                          </a:solidFill>
                          <a:latin typeface="Inter" pitchFamily="34" charset="0"/>
                          <a:ea typeface="Inter" pitchFamily="34" charset="-122"/>
                          <a:cs typeface="Inter" pitchFamily="34" charset="-120"/>
                        </a:rPr>
                        <a:t>₹174 L</a:t>
                      </a:r>
                      <a:endParaRPr lang="en-US" sz="1200" dirty="0">
                        <a:latin typeface="Inter" charset="0"/>
                        <a:ea typeface="Inter" charset="0"/>
                        <a:cs typeface="Inter" charset="0"/>
                      </a:endParaRPr>
                    </a:p>
                  </a:txBody>
                  <a:tcPr marL="88900" marR="88900" marT="63500" marB="63500">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extLst>
                  <a:ext uri="{0D108BD9-81ED-4DB2-BD59-A6C34878D82A}">
                    <a16:rowId xmlns:a16="http://schemas.microsoft.com/office/drawing/2014/main" val="10003"/>
                  </a:ext>
                </a:extLst>
              </a:tr>
              <a:tr h="349618">
                <a:tc>
                  <a:txBody>
                    <a:bodyPr/>
                    <a:lstStyle/>
                    <a:p>
                      <a:pPr marL="0" indent="0">
                        <a:lnSpc>
                          <a:spcPts val="1680"/>
                        </a:lnSpc>
                        <a:buNone/>
                      </a:pPr>
                      <a:r>
                        <a:rPr lang="en-US" sz="1200" dirty="0">
                          <a:solidFill>
                            <a:srgbClr val="0E1A2F"/>
                          </a:solidFill>
                          <a:latin typeface="Inter" pitchFamily="34" charset="0"/>
                          <a:ea typeface="Inter" pitchFamily="34" charset="-122"/>
                          <a:cs typeface="Inter" pitchFamily="34" charset="-120"/>
                        </a:rPr>
                        <a:t>Other operating expenses</a:t>
                      </a:r>
                      <a:endParaRPr lang="en-US" sz="1200" dirty="0">
                        <a:latin typeface="Inter" charset="0"/>
                        <a:ea typeface="Inter" charset="0"/>
                        <a:cs typeface="Inter" charset="0"/>
                      </a:endParaRPr>
                    </a:p>
                  </a:txBody>
                  <a:tcPr marL="88900" marR="88900" marT="63500" marB="63500">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1680"/>
                        </a:lnSpc>
                        <a:buNone/>
                      </a:pPr>
                      <a:r>
                        <a:rPr lang="en-US" sz="1200" dirty="0">
                          <a:solidFill>
                            <a:srgbClr val="0E1A2F"/>
                          </a:solidFill>
                          <a:latin typeface="Inter" pitchFamily="34" charset="0"/>
                          <a:ea typeface="Inter" pitchFamily="34" charset="-122"/>
                          <a:cs typeface="Inter" pitchFamily="34" charset="-120"/>
                        </a:rPr>
                        <a:t>(₹114 L)</a:t>
                      </a:r>
                      <a:endParaRPr lang="en-US" sz="1200" dirty="0">
                        <a:latin typeface="Inter" charset="0"/>
                        <a:ea typeface="Inter" charset="0"/>
                        <a:cs typeface="Inter" charset="0"/>
                      </a:endParaRPr>
                    </a:p>
                  </a:txBody>
                  <a:tcPr marL="88900" marR="88900" marT="63500" marB="63500">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extLst>
                  <a:ext uri="{0D108BD9-81ED-4DB2-BD59-A6C34878D82A}">
                    <a16:rowId xmlns:a16="http://schemas.microsoft.com/office/drawing/2014/main" val="10004"/>
                  </a:ext>
                </a:extLst>
              </a:tr>
              <a:tr h="349618">
                <a:tc>
                  <a:txBody>
                    <a:bodyPr/>
                    <a:lstStyle/>
                    <a:p>
                      <a:pPr marL="0" indent="0">
                        <a:lnSpc>
                          <a:spcPts val="1680"/>
                        </a:lnSpc>
                        <a:buNone/>
                      </a:pPr>
                      <a:r>
                        <a:rPr lang="en-US" sz="1200" dirty="0">
                          <a:solidFill>
                            <a:srgbClr val="0E1A2F"/>
                          </a:solidFill>
                          <a:latin typeface="Inter" pitchFamily="34" charset="0"/>
                          <a:ea typeface="Inter" pitchFamily="34" charset="-122"/>
                          <a:cs typeface="Inter" pitchFamily="34" charset="-120"/>
                        </a:rPr>
                        <a:t>EBITDA · 20%</a:t>
                      </a:r>
                      <a:endParaRPr lang="en-US" sz="1200" dirty="0">
                        <a:latin typeface="Inter" charset="0"/>
                        <a:ea typeface="Inter" charset="0"/>
                        <a:cs typeface="Inter" charset="0"/>
                      </a:endParaRPr>
                    </a:p>
                  </a:txBody>
                  <a:tcPr marL="88900" marR="88900" marT="63500" marB="63500">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1680"/>
                        </a:lnSpc>
                        <a:buNone/>
                      </a:pPr>
                      <a:r>
                        <a:rPr lang="en-US" sz="1200" dirty="0">
                          <a:solidFill>
                            <a:srgbClr val="0E1A2F"/>
                          </a:solidFill>
                          <a:latin typeface="Inter" pitchFamily="34" charset="0"/>
                          <a:ea typeface="Inter" pitchFamily="34" charset="-122"/>
                          <a:cs typeface="Inter" pitchFamily="34" charset="-120"/>
                        </a:rPr>
                        <a:t>₹60 L</a:t>
                      </a:r>
                      <a:endParaRPr lang="en-US" sz="1200" dirty="0">
                        <a:latin typeface="Inter" charset="0"/>
                        <a:ea typeface="Inter" charset="0"/>
                        <a:cs typeface="Inter" charset="0"/>
                      </a:endParaRPr>
                    </a:p>
                  </a:txBody>
                  <a:tcPr marL="88900" marR="88900" marT="63500" marB="63500">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extLst>
                  <a:ext uri="{0D108BD9-81ED-4DB2-BD59-A6C34878D82A}">
                    <a16:rowId xmlns:a16="http://schemas.microsoft.com/office/drawing/2014/main" val="10005"/>
                  </a:ext>
                </a:extLst>
              </a:tr>
              <a:tr h="349618">
                <a:tc>
                  <a:txBody>
                    <a:bodyPr/>
                    <a:lstStyle/>
                    <a:p>
                      <a:pPr marL="0" indent="0">
                        <a:lnSpc>
                          <a:spcPts val="1680"/>
                        </a:lnSpc>
                        <a:buNone/>
                      </a:pPr>
                      <a:r>
                        <a:rPr lang="en-US" sz="1200" dirty="0">
                          <a:solidFill>
                            <a:srgbClr val="0E1A2F"/>
                          </a:solidFill>
                          <a:latin typeface="Inter" pitchFamily="34" charset="0"/>
                          <a:ea typeface="Inter" pitchFamily="34" charset="-122"/>
                          <a:cs typeface="Inter" pitchFamily="34" charset="-120"/>
                        </a:rPr>
                        <a:t>Depreciation and interest</a:t>
                      </a:r>
                      <a:endParaRPr lang="en-US" sz="1200" dirty="0">
                        <a:latin typeface="Inter" charset="0"/>
                        <a:ea typeface="Inter" charset="0"/>
                        <a:cs typeface="Inter" charset="0"/>
                      </a:endParaRPr>
                    </a:p>
                  </a:txBody>
                  <a:tcPr marL="88900" marR="88900" marT="63500" marB="63500">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1680"/>
                        </a:lnSpc>
                        <a:buNone/>
                      </a:pPr>
                      <a:r>
                        <a:rPr lang="en-US" sz="1200" dirty="0">
                          <a:solidFill>
                            <a:srgbClr val="0E1A2F"/>
                          </a:solidFill>
                          <a:latin typeface="Inter" pitchFamily="34" charset="0"/>
                          <a:ea typeface="Inter" pitchFamily="34" charset="-122"/>
                          <a:cs typeface="Inter" pitchFamily="34" charset="-120"/>
                        </a:rPr>
                        <a:t>(₹12 L)</a:t>
                      </a:r>
                      <a:endParaRPr lang="en-US" sz="1200" dirty="0">
                        <a:latin typeface="Inter" charset="0"/>
                        <a:ea typeface="Inter" charset="0"/>
                        <a:cs typeface="Inter" charset="0"/>
                      </a:endParaRPr>
                    </a:p>
                  </a:txBody>
                  <a:tcPr marL="88900" marR="88900" marT="63500" marB="63500">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extLst>
                  <a:ext uri="{0D108BD9-81ED-4DB2-BD59-A6C34878D82A}">
                    <a16:rowId xmlns:a16="http://schemas.microsoft.com/office/drawing/2014/main" val="10006"/>
                  </a:ext>
                </a:extLst>
              </a:tr>
              <a:tr h="349618">
                <a:tc>
                  <a:txBody>
                    <a:bodyPr/>
                    <a:lstStyle/>
                    <a:p>
                      <a:pPr marL="0" indent="0">
                        <a:lnSpc>
                          <a:spcPts val="1680"/>
                        </a:lnSpc>
                        <a:buNone/>
                      </a:pPr>
                      <a:r>
                        <a:rPr lang="en-US" sz="1200" dirty="0">
                          <a:solidFill>
                            <a:srgbClr val="0E1A2F"/>
                          </a:solidFill>
                          <a:latin typeface="Inter" pitchFamily="34" charset="0"/>
                          <a:ea typeface="Inter" pitchFamily="34" charset="-122"/>
                          <a:cs typeface="Inter" pitchFamily="34" charset="-120"/>
                        </a:rPr>
                        <a:t>Profit before tax</a:t>
                      </a:r>
                      <a:endParaRPr lang="en-US" sz="1200" dirty="0">
                        <a:latin typeface="Inter" charset="0"/>
                        <a:ea typeface="Inter" charset="0"/>
                        <a:cs typeface="Inter" charset="0"/>
                      </a:endParaRPr>
                    </a:p>
                  </a:txBody>
                  <a:tcPr marL="88900" marR="88900" marT="63500" marB="63500">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1680"/>
                        </a:lnSpc>
                        <a:buNone/>
                      </a:pPr>
                      <a:r>
                        <a:rPr lang="en-US" sz="1200" dirty="0">
                          <a:solidFill>
                            <a:srgbClr val="0E1A2F"/>
                          </a:solidFill>
                          <a:latin typeface="Inter" pitchFamily="34" charset="0"/>
                          <a:ea typeface="Inter" pitchFamily="34" charset="-122"/>
                          <a:cs typeface="Inter" pitchFamily="34" charset="-120"/>
                        </a:rPr>
                        <a:t>₹48 L</a:t>
                      </a:r>
                      <a:endParaRPr lang="en-US" sz="1200" dirty="0">
                        <a:latin typeface="Inter" charset="0"/>
                        <a:ea typeface="Inter" charset="0"/>
                        <a:cs typeface="Inter" charset="0"/>
                      </a:endParaRPr>
                    </a:p>
                  </a:txBody>
                  <a:tcPr marL="88900" marR="88900" marT="63500" marB="63500">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extLst>
                  <a:ext uri="{0D108BD9-81ED-4DB2-BD59-A6C34878D82A}">
                    <a16:rowId xmlns:a16="http://schemas.microsoft.com/office/drawing/2014/main" val="10007"/>
                  </a:ext>
                </a:extLst>
              </a:tr>
              <a:tr h="349618">
                <a:tc>
                  <a:txBody>
                    <a:bodyPr/>
                    <a:lstStyle/>
                    <a:p>
                      <a:pPr marL="0" indent="0">
                        <a:lnSpc>
                          <a:spcPts val="1680"/>
                        </a:lnSpc>
                        <a:buNone/>
                      </a:pPr>
                      <a:r>
                        <a:rPr lang="en-US" sz="1200" dirty="0">
                          <a:solidFill>
                            <a:srgbClr val="0E1A2F"/>
                          </a:solidFill>
                          <a:latin typeface="Inter" pitchFamily="34" charset="0"/>
                          <a:ea typeface="Inter" pitchFamily="34" charset="-122"/>
                          <a:cs typeface="Inter" pitchFamily="34" charset="-120"/>
                        </a:rPr>
                        <a:t>Estimated tax</a:t>
                      </a:r>
                      <a:endParaRPr lang="en-US" sz="1200" dirty="0">
                        <a:latin typeface="Inter" charset="0"/>
                        <a:ea typeface="Inter" charset="0"/>
                        <a:cs typeface="Inter" charset="0"/>
                      </a:endParaRPr>
                    </a:p>
                  </a:txBody>
                  <a:tcPr marL="88900" marR="88900" marT="63500" marB="63500">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1680"/>
                        </a:lnSpc>
                        <a:buNone/>
                      </a:pPr>
                      <a:r>
                        <a:rPr lang="en-US" sz="1200" dirty="0">
                          <a:solidFill>
                            <a:srgbClr val="0E1A2F"/>
                          </a:solidFill>
                          <a:latin typeface="Inter" pitchFamily="34" charset="0"/>
                          <a:ea typeface="Inter" pitchFamily="34" charset="-122"/>
                          <a:cs typeface="Inter" pitchFamily="34" charset="-120"/>
                        </a:rPr>
                        <a:t>(₹12 L)</a:t>
                      </a:r>
                      <a:endParaRPr lang="en-US" sz="1200" dirty="0">
                        <a:latin typeface="Inter" charset="0"/>
                        <a:ea typeface="Inter" charset="0"/>
                        <a:cs typeface="Inter" charset="0"/>
                      </a:endParaRPr>
                    </a:p>
                  </a:txBody>
                  <a:tcPr marL="88900" marR="88900" marT="63500" marB="63500">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extLst>
                  <a:ext uri="{0D108BD9-81ED-4DB2-BD59-A6C34878D82A}">
                    <a16:rowId xmlns:a16="http://schemas.microsoft.com/office/drawing/2014/main" val="10008"/>
                  </a:ext>
                </a:extLst>
              </a:tr>
              <a:tr h="349618">
                <a:tc>
                  <a:txBody>
                    <a:bodyPr/>
                    <a:lstStyle/>
                    <a:p>
                      <a:pPr marL="0" indent="0">
                        <a:lnSpc>
                          <a:spcPts val="1680"/>
                        </a:lnSpc>
                        <a:buNone/>
                      </a:pPr>
                      <a:r>
                        <a:rPr lang="en-US" sz="1200" dirty="0">
                          <a:solidFill>
                            <a:srgbClr val="0E1A2F"/>
                          </a:solidFill>
                          <a:latin typeface="Inter" pitchFamily="34" charset="0"/>
                          <a:ea typeface="Inter" pitchFamily="34" charset="-122"/>
                          <a:cs typeface="Inter" pitchFamily="34" charset="-120"/>
                        </a:rPr>
                        <a:t>Net profit · 12%</a:t>
                      </a:r>
                      <a:endParaRPr lang="en-US" sz="1200" dirty="0">
                        <a:latin typeface="Inter" charset="0"/>
                        <a:ea typeface="Inter" charset="0"/>
                        <a:cs typeface="Inter" charset="0"/>
                      </a:endParaRPr>
                    </a:p>
                  </a:txBody>
                  <a:tcPr marL="88900" marR="88900" marT="63500" marB="63500">
                    <a:lnL w="12700" cap="flat" cmpd="sng" algn="ctr">
                      <a:solidFill>
                        <a:srgbClr val="C4C2BC"/>
                      </a:solidFill>
                      <a:prstDash val="solid"/>
                      <a:round/>
                      <a:headEnd type="none" w="med" len="med"/>
                      <a:tailEnd type="none" w="med" len="med"/>
                    </a:lnL>
                    <a:lnR w="12700" cap="flat" cmpd="sng" algn="ctr">
                      <a:solidFill>
                        <a:srgbClr val="1D9286"/>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1D9286"/>
                      </a:solidFill>
                      <a:prstDash val="solid"/>
                      <a:round/>
                      <a:headEnd type="none" w="med" len="med"/>
                      <a:tailEnd type="none" w="med" len="med"/>
                    </a:lnB>
                    <a:solidFill>
                      <a:srgbClr val="1FB6A6"/>
                    </a:solidFill>
                  </a:tcPr>
                </a:tc>
                <a:tc>
                  <a:txBody>
                    <a:bodyPr/>
                    <a:lstStyle/>
                    <a:p>
                      <a:pPr marL="0" indent="0">
                        <a:lnSpc>
                          <a:spcPts val="1680"/>
                        </a:lnSpc>
                        <a:buNone/>
                      </a:pPr>
                      <a:r>
                        <a:rPr lang="en-US" sz="1200" dirty="0">
                          <a:solidFill>
                            <a:srgbClr val="0E1A2F"/>
                          </a:solidFill>
                          <a:latin typeface="Inter" pitchFamily="34" charset="0"/>
                          <a:ea typeface="Inter" pitchFamily="34" charset="-122"/>
                          <a:cs typeface="Inter" pitchFamily="34" charset="-120"/>
                        </a:rPr>
                        <a:t>₹36 L</a:t>
                      </a:r>
                      <a:endParaRPr lang="en-US" sz="1200" dirty="0">
                        <a:latin typeface="Inter" charset="0"/>
                        <a:ea typeface="Inter" charset="0"/>
                        <a:cs typeface="Inter" charset="0"/>
                      </a:endParaRPr>
                    </a:p>
                  </a:txBody>
                  <a:tcPr marL="88900" marR="88900" marT="63500" marB="63500">
                    <a:lnL w="12700" cap="flat" cmpd="sng" algn="ctr">
                      <a:solidFill>
                        <a:srgbClr val="1D9286"/>
                      </a:solidFill>
                      <a:prstDash val="solid"/>
                      <a:round/>
                      <a:headEnd type="none" w="med" len="med"/>
                      <a:tailEnd type="none" w="med" len="med"/>
                    </a:lnL>
                    <a:lnR w="12700" cap="flat" cmpd="sng" algn="ctr">
                      <a:solidFill>
                        <a:srgbClr val="1D9286"/>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1D9286"/>
                      </a:solidFill>
                      <a:prstDash val="solid"/>
                      <a:round/>
                      <a:headEnd type="none" w="med" len="med"/>
                      <a:tailEnd type="none" w="med" len="med"/>
                    </a:lnB>
                    <a:solidFill>
                      <a:srgbClr val="1FB6A6"/>
                    </a:solid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5F3EC"/>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785" y="812781"/>
            <a:ext cx="10883348" cy="444471"/>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0E1A2F"/>
                </a:solidFill>
                <a:latin typeface="Sora" pitchFamily="34" charset="0"/>
                <a:ea typeface="Sora" pitchFamily="34" charset="-122"/>
                <a:cs typeface="Sora" pitchFamily="34" charset="-120"/>
              </a:rPr>
              <a:t>Growth Strategy &amp; Roadmap</a:t>
            </a:r>
            <a:endParaRPr lang="en-US" sz="3000" dirty="0"/>
          </a:p>
        </p:txBody>
      </p:sp>
      <p:sp>
        <p:nvSpPr>
          <p:cNvPr id="3" name="Text 1"/>
          <p:cNvSpPr/>
          <p:nvPr/>
        </p:nvSpPr>
        <p:spPr>
          <a:xfrm>
            <a:off x="812785" y="1434995"/>
            <a:ext cx="5258517" cy="253971"/>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F7F74"/>
                </a:solidFill>
                <a:latin typeface="Inter" pitchFamily="34" charset="0"/>
                <a:ea typeface="Inter" pitchFamily="34" charset="-122"/>
                <a:cs typeface="Inter" pitchFamily="34" charset="-120"/>
              </a:rPr>
              <a:t>Growth Strategy</a:t>
            </a:r>
            <a:endParaRPr lang="en-US" sz="1500" dirty="0"/>
          </a:p>
        </p:txBody>
      </p:sp>
      <p:sp>
        <p:nvSpPr>
          <p:cNvPr id="4" name="Text 2"/>
          <p:cNvSpPr/>
          <p:nvPr/>
        </p:nvSpPr>
        <p:spPr>
          <a:xfrm>
            <a:off x="812785" y="1790489"/>
            <a:ext cx="5258517" cy="471076"/>
          </a:xfrm>
          <a:prstGeom prst="rect">
            <a:avLst/>
          </a:prstGeom>
          <a:noFill/>
          <a:ln/>
        </p:spPr>
        <p:txBody>
          <a:bodyPr wrap="square" lIns="0" tIns="0" rIns="0" bIns="0" rtlCol="0" anchor="t">
            <a:normAutofit/>
          </a:bodyPr>
          <a:lstStyle/>
          <a:p>
            <a:pPr marL="0" indent="0" algn="l">
              <a:lnSpc>
                <a:spcPts val="1755"/>
              </a:lnSpc>
              <a:buNone/>
            </a:pPr>
            <a:r>
              <a:rPr lang="en-US" sz="1300" b="1" dirty="0">
                <a:solidFill>
                  <a:srgbClr val="0E1A2F"/>
                </a:solidFill>
                <a:latin typeface="Inter" pitchFamily="34" charset="0"/>
                <a:ea typeface="Inter" pitchFamily="34" charset="-122"/>
                <a:cs typeface="Inter" pitchFamily="34" charset="-120"/>
              </a:rPr>
              <a:t>Cluster-based entry.</a:t>
            </a:r>
            <a:r>
              <a:rPr lang="en-US" sz="1300" dirty="0">
                <a:solidFill>
                  <a:srgbClr val="2B3A55"/>
                </a:solidFill>
                <a:latin typeface="Inter" pitchFamily="34" charset="0"/>
                <a:ea typeface="Inter" pitchFamily="34" charset="-122"/>
                <a:cs typeface="Inter" pitchFamily="34" charset="-120"/>
              </a:rPr>
              <a:t> Technical account managers in Pimpri-Chinchwad; B2B sales in Pune and Mumbai.</a:t>
            </a:r>
            <a:endParaRPr lang="en-US" sz="1300" dirty="0"/>
          </a:p>
        </p:txBody>
      </p:sp>
      <p:sp>
        <p:nvSpPr>
          <p:cNvPr id="5" name="Text 3"/>
          <p:cNvSpPr/>
          <p:nvPr/>
        </p:nvSpPr>
        <p:spPr>
          <a:xfrm>
            <a:off x="812785" y="2363093"/>
            <a:ext cx="5258517" cy="248238"/>
          </a:xfrm>
          <a:prstGeom prst="rect">
            <a:avLst/>
          </a:prstGeom>
          <a:noFill/>
          <a:ln/>
        </p:spPr>
        <p:txBody>
          <a:bodyPr wrap="square" lIns="0" tIns="0" rIns="0" bIns="0" rtlCol="0" anchor="t">
            <a:normAutofit/>
          </a:bodyPr>
          <a:lstStyle/>
          <a:p>
            <a:pPr marL="0" indent="0" algn="l">
              <a:lnSpc>
                <a:spcPts val="1755"/>
              </a:lnSpc>
              <a:buNone/>
            </a:pPr>
            <a:r>
              <a:rPr lang="en-US" sz="1300" b="1" dirty="0">
                <a:solidFill>
                  <a:srgbClr val="0E1A2F"/>
                </a:solidFill>
                <a:latin typeface="Inter" pitchFamily="34" charset="0"/>
                <a:ea typeface="Inter" pitchFamily="34" charset="-122"/>
                <a:cs typeface="Inter" pitchFamily="34" charset="-120"/>
              </a:rPr>
              <a:t>Capacity scaling.</a:t>
            </a:r>
            <a:r>
              <a:rPr lang="en-US" sz="1300" dirty="0">
                <a:solidFill>
                  <a:srgbClr val="2B3A55"/>
                </a:solidFill>
                <a:latin typeface="Inter" pitchFamily="34" charset="0"/>
                <a:ea typeface="Inter" pitchFamily="34" charset="-122"/>
                <a:cs typeface="Inter" pitchFamily="34" charset="-120"/>
              </a:rPr>
              <a:t> Hire 12 engineers and AI specialists.</a:t>
            </a:r>
            <a:endParaRPr lang="en-US" sz="1300" dirty="0"/>
          </a:p>
        </p:txBody>
      </p:sp>
      <p:sp>
        <p:nvSpPr>
          <p:cNvPr id="6" name="Text 4"/>
          <p:cNvSpPr/>
          <p:nvPr/>
        </p:nvSpPr>
        <p:spPr>
          <a:xfrm>
            <a:off x="812785" y="2712858"/>
            <a:ext cx="5258517" cy="248238"/>
          </a:xfrm>
          <a:prstGeom prst="rect">
            <a:avLst/>
          </a:prstGeom>
          <a:noFill/>
          <a:ln/>
        </p:spPr>
        <p:txBody>
          <a:bodyPr wrap="square" lIns="0" tIns="0" rIns="0" bIns="0" rtlCol="0" anchor="t">
            <a:normAutofit/>
          </a:bodyPr>
          <a:lstStyle/>
          <a:p>
            <a:pPr marL="0" indent="0" algn="l">
              <a:lnSpc>
                <a:spcPts val="1755"/>
              </a:lnSpc>
              <a:buNone/>
            </a:pPr>
            <a:r>
              <a:rPr lang="en-US" sz="1300" b="1" dirty="0">
                <a:solidFill>
                  <a:srgbClr val="0E1A2F"/>
                </a:solidFill>
                <a:latin typeface="Inter" pitchFamily="34" charset="0"/>
                <a:ea typeface="Inter" pitchFamily="34" charset="-122"/>
                <a:cs typeface="Inter" pitchFamily="34" charset="-120"/>
              </a:rPr>
              <a:t>Geographic expansion.</a:t>
            </a:r>
            <a:r>
              <a:rPr lang="en-US" sz="1300" dirty="0">
                <a:solidFill>
                  <a:srgbClr val="2B3A55"/>
                </a:solidFill>
                <a:latin typeface="Inter" pitchFamily="34" charset="0"/>
                <a:ea typeface="Inter" pitchFamily="34" charset="-122"/>
                <a:cs typeface="Inter" pitchFamily="34" charset="-120"/>
              </a:rPr>
              <a:t> Gujarat and Karnataka by FY2028.</a:t>
            </a:r>
            <a:endParaRPr lang="en-US" sz="1300" dirty="0"/>
          </a:p>
        </p:txBody>
      </p:sp>
      <p:sp>
        <p:nvSpPr>
          <p:cNvPr id="7" name="Text 5"/>
          <p:cNvSpPr/>
          <p:nvPr/>
        </p:nvSpPr>
        <p:spPr>
          <a:xfrm>
            <a:off x="812785" y="3062622"/>
            <a:ext cx="5258517" cy="471076"/>
          </a:xfrm>
          <a:prstGeom prst="rect">
            <a:avLst/>
          </a:prstGeom>
          <a:noFill/>
          <a:ln/>
        </p:spPr>
        <p:txBody>
          <a:bodyPr wrap="square" lIns="0" tIns="0" rIns="0" bIns="0" rtlCol="0" anchor="t">
            <a:normAutofit/>
          </a:bodyPr>
          <a:lstStyle/>
          <a:p>
            <a:pPr marL="0" indent="0" algn="l">
              <a:lnSpc>
                <a:spcPts val="1755"/>
              </a:lnSpc>
              <a:buNone/>
            </a:pPr>
            <a:r>
              <a:rPr lang="en-US" sz="1300" b="1" dirty="0">
                <a:solidFill>
                  <a:srgbClr val="0E1A2F"/>
                </a:solidFill>
                <a:latin typeface="Inter" pitchFamily="34" charset="0"/>
                <a:ea typeface="Inter" pitchFamily="34" charset="-122"/>
                <a:cs typeface="Inter" pitchFamily="34" charset="-120"/>
              </a:rPr>
              <a:t>Productization.</a:t>
            </a:r>
            <a:r>
              <a:rPr lang="en-US" sz="1300" dirty="0">
                <a:solidFill>
                  <a:srgbClr val="2B3A55"/>
                </a:solidFill>
                <a:latin typeface="Inter" pitchFamily="34" charset="0"/>
                <a:ea typeface="Inter" pitchFamily="34" charset="-122"/>
                <a:cs typeface="Inter" pitchFamily="34" charset="-120"/>
              </a:rPr>
              <a:t> 40% of custom modules become repeatable vertical SaaS by FY2029.</a:t>
            </a:r>
            <a:endParaRPr lang="en-US" sz="1300" dirty="0"/>
          </a:p>
        </p:txBody>
      </p:sp>
      <p:sp>
        <p:nvSpPr>
          <p:cNvPr id="8" name="Text 6"/>
          <p:cNvSpPr/>
          <p:nvPr/>
        </p:nvSpPr>
        <p:spPr>
          <a:xfrm>
            <a:off x="812785" y="3635226"/>
            <a:ext cx="5258517" cy="471076"/>
          </a:xfrm>
          <a:prstGeom prst="rect">
            <a:avLst/>
          </a:prstGeom>
          <a:noFill/>
          <a:ln/>
        </p:spPr>
        <p:txBody>
          <a:bodyPr wrap="square" lIns="0" tIns="0" rIns="0" bIns="0" rtlCol="0" anchor="t">
            <a:normAutofit/>
          </a:bodyPr>
          <a:lstStyle/>
          <a:p>
            <a:pPr marL="0" indent="0" algn="l">
              <a:lnSpc>
                <a:spcPts val="1755"/>
              </a:lnSpc>
              <a:buNone/>
            </a:pPr>
            <a:r>
              <a:rPr lang="en-US" sz="1300" b="1" dirty="0">
                <a:solidFill>
                  <a:srgbClr val="0E1A2F"/>
                </a:solidFill>
                <a:latin typeface="Inter" pitchFamily="34" charset="0"/>
                <a:ea typeface="Inter" pitchFamily="34" charset="-122"/>
                <a:cs typeface="Inter" pitchFamily="34" charset="-120"/>
              </a:rPr>
              <a:t>New frontier.</a:t>
            </a:r>
            <a:r>
              <a:rPr lang="en-US" sz="1300" dirty="0">
                <a:solidFill>
                  <a:srgbClr val="2B3A55"/>
                </a:solidFill>
                <a:latin typeface="Inter" pitchFamily="34" charset="0"/>
                <a:ea typeface="Inter" pitchFamily="34" charset="-122"/>
                <a:cs typeface="Inter" pitchFamily="34" charset="-120"/>
              </a:rPr>
              <a:t> AI, Cloud, Cybersecurity and Quantum technologies.</a:t>
            </a:r>
            <a:endParaRPr lang="en-US" sz="1300" dirty="0"/>
          </a:p>
        </p:txBody>
      </p:sp>
      <p:sp>
        <p:nvSpPr>
          <p:cNvPr id="9" name="Text 7"/>
          <p:cNvSpPr/>
          <p:nvPr/>
        </p:nvSpPr>
        <p:spPr>
          <a:xfrm>
            <a:off x="6273713" y="1434995"/>
            <a:ext cx="5258593" cy="253971"/>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F7F74"/>
                </a:solidFill>
                <a:latin typeface="Inter" pitchFamily="34" charset="0"/>
                <a:ea typeface="Inter" pitchFamily="34" charset="-122"/>
                <a:cs typeface="Inter" pitchFamily="34" charset="-120"/>
              </a:rPr>
              <a:t>Roadmap</a:t>
            </a:r>
            <a:endParaRPr lang="en-US" sz="1500" dirty="0"/>
          </a:p>
        </p:txBody>
      </p:sp>
      <p:sp>
        <p:nvSpPr>
          <p:cNvPr id="10" name="Shape 8"/>
          <p:cNvSpPr/>
          <p:nvPr/>
        </p:nvSpPr>
        <p:spPr>
          <a:xfrm>
            <a:off x="6276888" y="1768314"/>
            <a:ext cx="5099080" cy="881695"/>
          </a:xfrm>
          <a:prstGeom prst="roundRect">
            <a:avLst>
              <a:gd name="adj" fmla="val 11163"/>
            </a:avLst>
          </a:prstGeom>
          <a:solidFill>
            <a:srgbClr val="FFFFFF"/>
          </a:solidFill>
          <a:ln w="6350">
            <a:solidFill>
              <a:srgbClr val="E2DED2"/>
            </a:solidFill>
            <a:prstDash val="solid"/>
          </a:ln>
        </p:spPr>
      </p:sp>
      <p:sp>
        <p:nvSpPr>
          <p:cNvPr id="11" name="Text 9"/>
          <p:cNvSpPr/>
          <p:nvPr/>
        </p:nvSpPr>
        <p:spPr>
          <a:xfrm>
            <a:off x="6430772" y="1896765"/>
            <a:ext cx="4935050" cy="238757"/>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F7F74"/>
                </a:solidFill>
                <a:latin typeface="Inter" pitchFamily="34" charset="0"/>
                <a:ea typeface="Inter" pitchFamily="34" charset="-122"/>
                <a:cs typeface="Inter" pitchFamily="34" charset="-120"/>
              </a:rPr>
              <a:t>Months 0–3</a:t>
            </a:r>
            <a:endParaRPr lang="en-US" sz="1200" dirty="0"/>
          </a:p>
        </p:txBody>
      </p:sp>
      <p:sp>
        <p:nvSpPr>
          <p:cNvPr id="12" name="Text 10"/>
          <p:cNvSpPr/>
          <p:nvPr/>
        </p:nvSpPr>
        <p:spPr>
          <a:xfrm>
            <a:off x="6430772" y="2110122"/>
            <a:ext cx="4935050" cy="436827"/>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2B3A55"/>
                </a:solidFill>
                <a:latin typeface="Inter" pitchFamily="34" charset="0"/>
                <a:ea typeface="Inter" pitchFamily="34" charset="-122"/>
                <a:cs typeface="Inter" pitchFamily="34" charset="-120"/>
              </a:rPr>
              <a:t>Set up financial reporting and cash controls; prioritise two repeatable offerings.</a:t>
            </a:r>
            <a:endParaRPr lang="en-US" sz="1200" dirty="0"/>
          </a:p>
        </p:txBody>
      </p:sp>
      <p:sp>
        <p:nvSpPr>
          <p:cNvPr id="13" name="Shape 11"/>
          <p:cNvSpPr/>
          <p:nvPr/>
        </p:nvSpPr>
        <p:spPr>
          <a:xfrm>
            <a:off x="6276888" y="2757928"/>
            <a:ext cx="5099080" cy="881695"/>
          </a:xfrm>
          <a:prstGeom prst="roundRect">
            <a:avLst>
              <a:gd name="adj" fmla="val 11163"/>
            </a:avLst>
          </a:prstGeom>
          <a:solidFill>
            <a:srgbClr val="FFFFFF"/>
          </a:solidFill>
          <a:ln w="6350">
            <a:solidFill>
              <a:srgbClr val="E2DED2"/>
            </a:solidFill>
            <a:prstDash val="solid"/>
          </a:ln>
        </p:spPr>
      </p:sp>
      <p:sp>
        <p:nvSpPr>
          <p:cNvPr id="14" name="Text 12"/>
          <p:cNvSpPr/>
          <p:nvPr/>
        </p:nvSpPr>
        <p:spPr>
          <a:xfrm>
            <a:off x="6430772" y="2886379"/>
            <a:ext cx="4935050" cy="238757"/>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F7F74"/>
                </a:solidFill>
                <a:latin typeface="Inter" pitchFamily="34" charset="0"/>
                <a:ea typeface="Inter" pitchFamily="34" charset="-122"/>
                <a:cs typeface="Inter" pitchFamily="34" charset="-120"/>
              </a:rPr>
              <a:t>Months 3–6</a:t>
            </a:r>
            <a:endParaRPr lang="en-US" sz="1200" dirty="0"/>
          </a:p>
        </p:txBody>
      </p:sp>
      <p:sp>
        <p:nvSpPr>
          <p:cNvPr id="15" name="Text 13"/>
          <p:cNvSpPr/>
          <p:nvPr/>
        </p:nvSpPr>
        <p:spPr>
          <a:xfrm>
            <a:off x="6430772" y="3099736"/>
            <a:ext cx="4935050" cy="436827"/>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2B3A55"/>
                </a:solidFill>
                <a:latin typeface="Inter" pitchFamily="34" charset="0"/>
                <a:ea typeface="Inter" pitchFamily="34" charset="-122"/>
                <a:cs typeface="Inter" pitchFamily="34" charset="-120"/>
              </a:rPr>
              <a:t>Strengthen the Pune and Mumbai pipeline; build client case studies.</a:t>
            </a:r>
            <a:endParaRPr lang="en-US" sz="1200" dirty="0"/>
          </a:p>
        </p:txBody>
      </p:sp>
      <p:sp>
        <p:nvSpPr>
          <p:cNvPr id="16" name="Shape 14"/>
          <p:cNvSpPr/>
          <p:nvPr/>
        </p:nvSpPr>
        <p:spPr>
          <a:xfrm>
            <a:off x="6276888" y="3747542"/>
            <a:ext cx="5099080" cy="675981"/>
          </a:xfrm>
          <a:prstGeom prst="roundRect">
            <a:avLst>
              <a:gd name="adj" fmla="val 14560"/>
            </a:avLst>
          </a:prstGeom>
          <a:solidFill>
            <a:srgbClr val="FFFFFF"/>
          </a:solidFill>
          <a:ln w="6350">
            <a:solidFill>
              <a:srgbClr val="E2DED2"/>
            </a:solidFill>
            <a:prstDash val="solid"/>
          </a:ln>
        </p:spPr>
      </p:sp>
      <p:sp>
        <p:nvSpPr>
          <p:cNvPr id="17" name="Text 15"/>
          <p:cNvSpPr/>
          <p:nvPr/>
        </p:nvSpPr>
        <p:spPr>
          <a:xfrm>
            <a:off x="6430772" y="3875999"/>
            <a:ext cx="4935050" cy="238757"/>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F7F74"/>
                </a:solidFill>
                <a:latin typeface="Inter" pitchFamily="34" charset="0"/>
                <a:ea typeface="Inter" pitchFamily="34" charset="-122"/>
                <a:cs typeface="Inter" pitchFamily="34" charset="-120"/>
              </a:rPr>
              <a:t>Months 6–12</a:t>
            </a:r>
            <a:endParaRPr lang="en-US" sz="1200" dirty="0"/>
          </a:p>
        </p:txBody>
      </p:sp>
      <p:sp>
        <p:nvSpPr>
          <p:cNvPr id="18" name="Text 16"/>
          <p:cNvSpPr/>
          <p:nvPr/>
        </p:nvSpPr>
        <p:spPr>
          <a:xfrm>
            <a:off x="6430772" y="4089357"/>
            <a:ext cx="4935050" cy="231114"/>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2B3A55"/>
                </a:solidFill>
                <a:latin typeface="Inter" pitchFamily="34" charset="0"/>
                <a:ea typeface="Inter" pitchFamily="34" charset="-122"/>
                <a:cs typeface="Inter" pitchFamily="34" charset="-120"/>
              </a:rPr>
              <a:t>Expand recurring contracts; track gross margin and retention.</a:t>
            </a:r>
            <a:endParaRPr lang="en-US" sz="1200" dirty="0"/>
          </a:p>
        </p:txBody>
      </p:sp>
      <p:sp>
        <p:nvSpPr>
          <p:cNvPr id="19" name="Shape 17"/>
          <p:cNvSpPr/>
          <p:nvPr/>
        </p:nvSpPr>
        <p:spPr>
          <a:xfrm>
            <a:off x="6276888" y="4531444"/>
            <a:ext cx="5099080" cy="881695"/>
          </a:xfrm>
          <a:prstGeom prst="roundRect">
            <a:avLst>
              <a:gd name="adj" fmla="val 11163"/>
            </a:avLst>
          </a:prstGeom>
          <a:solidFill>
            <a:srgbClr val="FFFFFF"/>
          </a:solidFill>
          <a:ln w="6350">
            <a:solidFill>
              <a:srgbClr val="E2DED2"/>
            </a:solidFill>
            <a:prstDash val="solid"/>
          </a:ln>
        </p:spPr>
      </p:sp>
      <p:sp>
        <p:nvSpPr>
          <p:cNvPr id="20" name="Text 18"/>
          <p:cNvSpPr/>
          <p:nvPr/>
        </p:nvSpPr>
        <p:spPr>
          <a:xfrm>
            <a:off x="6430772" y="4659902"/>
            <a:ext cx="4935050" cy="238757"/>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F7F74"/>
                </a:solidFill>
                <a:latin typeface="Inter" pitchFamily="34" charset="0"/>
                <a:ea typeface="Inter" pitchFamily="34" charset="-122"/>
                <a:cs typeface="Inter" pitchFamily="34" charset="-120"/>
              </a:rPr>
              <a:t>Months 12–24</a:t>
            </a:r>
            <a:endParaRPr lang="en-US" sz="1200" dirty="0"/>
          </a:p>
        </p:txBody>
      </p:sp>
      <p:sp>
        <p:nvSpPr>
          <p:cNvPr id="21" name="Text 19"/>
          <p:cNvSpPr/>
          <p:nvPr/>
        </p:nvSpPr>
        <p:spPr>
          <a:xfrm>
            <a:off x="6430772" y="4873253"/>
            <a:ext cx="4935050" cy="436827"/>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2B3A55"/>
                </a:solidFill>
                <a:latin typeface="Inter" pitchFamily="34" charset="0"/>
                <a:ea typeface="Inter" pitchFamily="34" charset="-122"/>
                <a:cs typeface="Inter" pitchFamily="34" charset="-120"/>
              </a:rPr>
              <a:t>Enter Gujarat and Bengaluru only when demand, capacity and unit economics support it.</a:t>
            </a:r>
            <a:endParaRPr lang="en-US" sz="1200" dirty="0"/>
          </a:p>
        </p:txBody>
      </p:sp>
      <p:sp>
        <p:nvSpPr>
          <p:cNvPr id="22" name="Text 20"/>
          <p:cNvSpPr/>
          <p:nvPr/>
        </p:nvSpPr>
        <p:spPr>
          <a:xfrm>
            <a:off x="812785" y="6238211"/>
            <a:ext cx="5886375" cy="23875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07A"/>
                </a:solidFill>
                <a:latin typeface="Inter" pitchFamily="34" charset="0"/>
                <a:ea typeface="Inter" pitchFamily="34" charset="-122"/>
                <a:cs typeface="Inter" pitchFamily="34" charset="-120"/>
              </a:rPr>
              <a:t>Anvexa · Investor Pitch</a:t>
            </a:r>
            <a:endParaRPr lang="en-US" sz="1200" dirty="0"/>
          </a:p>
        </p:txBody>
      </p:sp>
      <p:sp>
        <p:nvSpPr>
          <p:cNvPr id="23" name="Text 21"/>
          <p:cNvSpPr/>
          <p:nvPr/>
        </p:nvSpPr>
        <p:spPr>
          <a:xfrm>
            <a:off x="10693416" y="6238211"/>
            <a:ext cx="685727" cy="238757"/>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5607A"/>
                </a:solidFill>
                <a:latin typeface="Inter" pitchFamily="34" charset="0"/>
                <a:ea typeface="Inter" pitchFamily="34" charset="-122"/>
                <a:cs typeface="Inter" pitchFamily="34" charset="-120"/>
              </a:rPr>
              <a:t>10</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0E1A2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785" y="812788"/>
            <a:ext cx="10883348" cy="444471"/>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F5F3EC"/>
                </a:solidFill>
                <a:latin typeface="Sora" pitchFamily="34" charset="0"/>
                <a:ea typeface="Sora" pitchFamily="34" charset="-122"/>
                <a:cs typeface="Sora" pitchFamily="34" charset="-120"/>
              </a:rPr>
              <a:t>Investment Proposal</a:t>
            </a:r>
            <a:endParaRPr lang="en-US" sz="3000" dirty="0"/>
          </a:p>
        </p:txBody>
      </p:sp>
      <p:sp>
        <p:nvSpPr>
          <p:cNvPr id="3" name="Shape 1"/>
          <p:cNvSpPr/>
          <p:nvPr/>
        </p:nvSpPr>
        <p:spPr>
          <a:xfrm>
            <a:off x="812785" y="1460426"/>
            <a:ext cx="3555927" cy="3310158"/>
          </a:xfrm>
          <a:prstGeom prst="roundRect">
            <a:avLst>
              <a:gd name="adj" fmla="val 3069"/>
            </a:avLst>
          </a:prstGeom>
          <a:solidFill>
            <a:srgbClr val="1FB6A6"/>
          </a:solidFill>
          <a:ln/>
        </p:spPr>
      </p:sp>
      <p:sp>
        <p:nvSpPr>
          <p:cNvPr id="4" name="Text 2"/>
          <p:cNvSpPr/>
          <p:nvPr/>
        </p:nvSpPr>
        <p:spPr>
          <a:xfrm>
            <a:off x="1066712" y="1714351"/>
            <a:ext cx="3139516" cy="256469"/>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E1A2F"/>
                </a:solidFill>
                <a:latin typeface="Inter" pitchFamily="34" charset="0"/>
                <a:ea typeface="Inter" pitchFamily="34" charset="-122"/>
                <a:cs typeface="Inter" pitchFamily="34" charset="-120"/>
              </a:rPr>
              <a:t>Growth round</a:t>
            </a:r>
            <a:endParaRPr lang="en-US" sz="1300" dirty="0"/>
          </a:p>
        </p:txBody>
      </p:sp>
      <p:sp>
        <p:nvSpPr>
          <p:cNvPr id="5" name="Text 3"/>
          <p:cNvSpPr/>
          <p:nvPr/>
        </p:nvSpPr>
        <p:spPr>
          <a:xfrm>
            <a:off x="1066712" y="2021563"/>
            <a:ext cx="3139516" cy="758810"/>
          </a:xfrm>
          <a:prstGeom prst="rect">
            <a:avLst/>
          </a:prstGeom>
          <a:noFill/>
          <a:ln/>
        </p:spPr>
        <p:txBody>
          <a:bodyPr wrap="square" lIns="0" tIns="0" rIns="0" bIns="0" rtlCol="0" anchor="t">
            <a:normAutofit/>
          </a:bodyPr>
          <a:lstStyle/>
          <a:p>
            <a:pPr marL="0" indent="0" algn="l">
              <a:lnSpc>
                <a:spcPts val="5775"/>
              </a:lnSpc>
              <a:buNone/>
            </a:pPr>
            <a:r>
              <a:rPr lang="en-US" sz="5500" b="1" dirty="0">
                <a:solidFill>
                  <a:srgbClr val="0E1A2F"/>
                </a:solidFill>
                <a:latin typeface="Sora" pitchFamily="34" charset="0"/>
                <a:ea typeface="Sora" pitchFamily="34" charset="-122"/>
                <a:cs typeface="Sora" pitchFamily="34" charset="-120"/>
              </a:rPr>
              <a:t>₹2 Cr</a:t>
            </a:r>
            <a:endParaRPr lang="en-US" sz="5500" dirty="0"/>
          </a:p>
        </p:txBody>
      </p:sp>
      <p:sp>
        <p:nvSpPr>
          <p:cNvPr id="6" name="Text 4"/>
          <p:cNvSpPr/>
          <p:nvPr/>
        </p:nvSpPr>
        <p:spPr>
          <a:xfrm>
            <a:off x="1066712" y="2831114"/>
            <a:ext cx="3139516" cy="292041"/>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0E1A2F"/>
                </a:solidFill>
                <a:latin typeface="Inter" pitchFamily="34" charset="0"/>
                <a:ea typeface="Inter" pitchFamily="34" charset="-122"/>
                <a:cs typeface="Inter" pitchFamily="34" charset="-120"/>
              </a:rPr>
              <a:t>16.67% equity</a:t>
            </a:r>
            <a:endParaRPr lang="en-US" sz="1500" dirty="0"/>
          </a:p>
        </p:txBody>
      </p:sp>
      <p:sp>
        <p:nvSpPr>
          <p:cNvPr id="7" name="Text 5"/>
          <p:cNvSpPr/>
          <p:nvPr/>
        </p:nvSpPr>
        <p:spPr>
          <a:xfrm>
            <a:off x="1066712" y="3173896"/>
            <a:ext cx="3139516" cy="949678"/>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0E1A2F"/>
                </a:solidFill>
                <a:latin typeface="Inter" pitchFamily="34" charset="0"/>
                <a:ea typeface="Inter" pitchFamily="34" charset="-122"/>
                <a:cs typeface="Inter" pitchFamily="34" charset="-120"/>
              </a:rPr>
              <a:t>Pre-money ₹10 Cr · Post-money ₹12 Cr. To strengthen AI, Cloud, Cybersecurity and Quantum readiness.</a:t>
            </a:r>
            <a:endParaRPr lang="en-US" sz="13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682905" y="1469833"/>
          <a:ext cx="6213519" cy="3300754"/>
        </p:xfrm>
        <a:graphic>
          <a:graphicData uri="http://schemas.openxmlformats.org/drawingml/2006/table">
            <a:tbl>
              <a:tblPr/>
              <a:tblGrid>
                <a:gridCol w="1677650">
                  <a:extLst>
                    <a:ext uri="{9D8B030D-6E8A-4147-A177-3AD203B41FA5}">
                      <a16:colId xmlns:a16="http://schemas.microsoft.com/office/drawing/2014/main" val="20000"/>
                    </a:ext>
                  </a:extLst>
                </a:gridCol>
                <a:gridCol w="1242704">
                  <a:extLst>
                    <a:ext uri="{9D8B030D-6E8A-4147-A177-3AD203B41FA5}">
                      <a16:colId xmlns:a16="http://schemas.microsoft.com/office/drawing/2014/main" val="20001"/>
                    </a:ext>
                  </a:extLst>
                </a:gridCol>
                <a:gridCol w="3293165">
                  <a:extLst>
                    <a:ext uri="{9D8B030D-6E8A-4147-A177-3AD203B41FA5}">
                      <a16:colId xmlns:a16="http://schemas.microsoft.com/office/drawing/2014/main" val="20002"/>
                    </a:ext>
                  </a:extLst>
                </a:gridCol>
              </a:tblGrid>
              <a:tr h="349618">
                <a:tc>
                  <a:txBody>
                    <a:bodyPr/>
                    <a:lstStyle/>
                    <a:p>
                      <a:pPr marL="0" indent="0">
                        <a:lnSpc>
                          <a:spcPts val="1680"/>
                        </a:lnSpc>
                        <a:buNone/>
                      </a:pPr>
                      <a:r>
                        <a:rPr lang="en-US" sz="1200" b="1" dirty="0">
                          <a:solidFill>
                            <a:srgbClr val="0E1A2F"/>
                          </a:solidFill>
                          <a:latin typeface="Inter" pitchFamily="34" charset="0"/>
                          <a:ea typeface="Inter" pitchFamily="34" charset="-122"/>
                          <a:cs typeface="Inter" pitchFamily="34" charset="-120"/>
                        </a:rPr>
                        <a:t>Use of Funds</a:t>
                      </a:r>
                      <a:endParaRPr lang="en-US" sz="1200" dirty="0">
                        <a:latin typeface="Inter" charset="0"/>
                        <a:ea typeface="Inter" charset="0"/>
                        <a:cs typeface="Inter" charset="0"/>
                      </a:endParaRPr>
                    </a:p>
                  </a:txBody>
                  <a:tcPr marL="88900" marR="88900" marT="63500" marB="63500">
                    <a:lnL w="12700" cap="flat" cmpd="sng" algn="ctr">
                      <a:solidFill>
                        <a:srgbClr val="424B5B"/>
                      </a:solidFill>
                      <a:prstDash val="solid"/>
                      <a:round/>
                      <a:headEnd type="none" w="med" len="med"/>
                      <a:tailEnd type="none" w="med" len="med"/>
                    </a:lnL>
                    <a:lnR w="12700" cap="flat" cmpd="sng" algn="ctr">
                      <a:solidFill>
                        <a:srgbClr val="4FC5B7"/>
                      </a:solidFill>
                      <a:prstDash val="solid"/>
                      <a:round/>
                      <a:headEnd type="none" w="med" len="med"/>
                      <a:tailEnd type="none" w="med" len="med"/>
                    </a:lnR>
                    <a:lnT w="12700" cap="flat" cmpd="sng" algn="ctr">
                      <a:solidFill>
                        <a:srgbClr val="424B5B"/>
                      </a:solidFill>
                      <a:prstDash val="solid"/>
                      <a:round/>
                      <a:headEnd type="none" w="med" len="med"/>
                      <a:tailEnd type="none" w="med" len="med"/>
                    </a:lnT>
                    <a:lnB w="12700" cap="flat" cmpd="sng" algn="ctr">
                      <a:solidFill>
                        <a:srgbClr val="4FC5B7"/>
                      </a:solidFill>
                      <a:prstDash val="solid"/>
                      <a:round/>
                      <a:headEnd type="none" w="med" len="med"/>
                      <a:tailEnd type="none" w="med" len="med"/>
                    </a:lnB>
                    <a:solidFill>
                      <a:srgbClr val="1FB6A6"/>
                    </a:solidFill>
                  </a:tcPr>
                </a:tc>
                <a:tc>
                  <a:txBody>
                    <a:bodyPr/>
                    <a:lstStyle/>
                    <a:p>
                      <a:pPr marL="0" indent="0">
                        <a:lnSpc>
                          <a:spcPts val="1680"/>
                        </a:lnSpc>
                        <a:buNone/>
                      </a:pPr>
                      <a:r>
                        <a:rPr lang="en-US" sz="1200" b="1" dirty="0">
                          <a:solidFill>
                            <a:srgbClr val="0E1A2F"/>
                          </a:solidFill>
                          <a:latin typeface="Inter" pitchFamily="34" charset="0"/>
                          <a:ea typeface="Inter" pitchFamily="34" charset="-122"/>
                          <a:cs typeface="Inter" pitchFamily="34" charset="-120"/>
                        </a:rPr>
                        <a:t>Amount</a:t>
                      </a:r>
                      <a:endParaRPr lang="en-US" sz="1200" dirty="0">
                        <a:latin typeface="Inter" charset="0"/>
                        <a:ea typeface="Inter" charset="0"/>
                        <a:cs typeface="Inter" charset="0"/>
                      </a:endParaRPr>
                    </a:p>
                  </a:txBody>
                  <a:tcPr marL="88900" marR="88900" marT="63500" marB="63500">
                    <a:lnL w="12700" cap="flat" cmpd="sng" algn="ctr">
                      <a:solidFill>
                        <a:srgbClr val="4FC5B7"/>
                      </a:solidFill>
                      <a:prstDash val="solid"/>
                      <a:round/>
                      <a:headEnd type="none" w="med" len="med"/>
                      <a:tailEnd type="none" w="med" len="med"/>
                    </a:lnL>
                    <a:lnR w="12700" cap="flat" cmpd="sng" algn="ctr">
                      <a:solidFill>
                        <a:srgbClr val="4FC5B7"/>
                      </a:solidFill>
                      <a:prstDash val="solid"/>
                      <a:round/>
                      <a:headEnd type="none" w="med" len="med"/>
                      <a:tailEnd type="none" w="med" len="med"/>
                    </a:lnR>
                    <a:lnT w="12700" cap="flat" cmpd="sng" algn="ctr">
                      <a:solidFill>
                        <a:srgbClr val="424B5B"/>
                      </a:solidFill>
                      <a:prstDash val="solid"/>
                      <a:round/>
                      <a:headEnd type="none" w="med" len="med"/>
                      <a:tailEnd type="none" w="med" len="med"/>
                    </a:lnT>
                    <a:lnB w="12700" cap="flat" cmpd="sng" algn="ctr">
                      <a:solidFill>
                        <a:srgbClr val="4FC5B7"/>
                      </a:solidFill>
                      <a:prstDash val="solid"/>
                      <a:round/>
                      <a:headEnd type="none" w="med" len="med"/>
                      <a:tailEnd type="none" w="med" len="med"/>
                    </a:lnB>
                    <a:solidFill>
                      <a:srgbClr val="1FB6A6"/>
                    </a:solidFill>
                  </a:tcPr>
                </a:tc>
                <a:tc>
                  <a:txBody>
                    <a:bodyPr/>
                    <a:lstStyle/>
                    <a:p>
                      <a:pPr marL="0" indent="0">
                        <a:lnSpc>
                          <a:spcPts val="1680"/>
                        </a:lnSpc>
                        <a:buNone/>
                      </a:pPr>
                      <a:r>
                        <a:rPr lang="en-US" sz="1200" b="1" dirty="0">
                          <a:solidFill>
                            <a:srgbClr val="0E1A2F"/>
                          </a:solidFill>
                          <a:latin typeface="Inter" pitchFamily="34" charset="0"/>
                          <a:ea typeface="Inter" pitchFamily="34" charset="-122"/>
                          <a:cs typeface="Inter" pitchFamily="34" charset="-120"/>
                        </a:rPr>
                        <a:t>Purpose</a:t>
                      </a:r>
                      <a:endParaRPr lang="en-US" sz="1200" dirty="0">
                        <a:latin typeface="Inter" charset="0"/>
                        <a:ea typeface="Inter" charset="0"/>
                        <a:cs typeface="Inter" charset="0"/>
                      </a:endParaRPr>
                    </a:p>
                  </a:txBody>
                  <a:tcPr marL="88900" marR="88900" marT="63500" marB="63500">
                    <a:lnL w="12700" cap="flat" cmpd="sng" algn="ctr">
                      <a:solidFill>
                        <a:srgbClr val="4FC5B7"/>
                      </a:solidFill>
                      <a:prstDash val="solid"/>
                      <a:round/>
                      <a:headEnd type="none" w="med" len="med"/>
                      <a:tailEnd type="none" w="med" len="med"/>
                    </a:lnL>
                    <a:lnR w="12700" cap="flat" cmpd="sng" algn="ctr">
                      <a:solidFill>
                        <a:srgbClr val="4FC5B7"/>
                      </a:solidFill>
                      <a:prstDash val="solid"/>
                      <a:round/>
                      <a:headEnd type="none" w="med" len="med"/>
                      <a:tailEnd type="none" w="med" len="med"/>
                    </a:lnR>
                    <a:lnT w="12700" cap="flat" cmpd="sng" algn="ctr">
                      <a:solidFill>
                        <a:srgbClr val="424B5B"/>
                      </a:solidFill>
                      <a:prstDash val="solid"/>
                      <a:round/>
                      <a:headEnd type="none" w="med" len="med"/>
                      <a:tailEnd type="none" w="med" len="med"/>
                    </a:lnT>
                    <a:lnB w="12700" cap="flat" cmpd="sng" algn="ctr">
                      <a:solidFill>
                        <a:srgbClr val="4FC5B7"/>
                      </a:solidFill>
                      <a:prstDash val="solid"/>
                      <a:round/>
                      <a:headEnd type="none" w="med" len="med"/>
                      <a:tailEnd type="none" w="med" len="med"/>
                    </a:lnB>
                    <a:solidFill>
                      <a:srgbClr val="1FB6A6"/>
                    </a:solidFill>
                  </a:tcPr>
                </a:tc>
                <a:extLst>
                  <a:ext uri="{0D108BD9-81ED-4DB2-BD59-A6C34878D82A}">
                    <a16:rowId xmlns:a16="http://schemas.microsoft.com/office/drawing/2014/main" val="10000"/>
                  </a:ext>
                </a:extLst>
              </a:tr>
              <a:tr h="562975">
                <a:tc>
                  <a:txBody>
                    <a:bodyPr/>
                    <a:lstStyle/>
                    <a:p>
                      <a:pPr marL="0" indent="0">
                        <a:lnSpc>
                          <a:spcPts val="1680"/>
                        </a:lnSpc>
                        <a:buNone/>
                      </a:pPr>
                      <a:r>
                        <a:rPr lang="en-US" sz="1200" dirty="0">
                          <a:solidFill>
                            <a:srgbClr val="F5F3EC"/>
                          </a:solidFill>
                          <a:latin typeface="Inter" pitchFamily="34" charset="0"/>
                          <a:ea typeface="Inter" pitchFamily="34" charset="-122"/>
                          <a:cs typeface="Inter" pitchFamily="34" charset="-120"/>
                        </a:rPr>
                        <a:t>R&amp;D</a:t>
                      </a:r>
                      <a:endParaRPr lang="en-US" sz="1200" dirty="0">
                        <a:latin typeface="Inter" charset="0"/>
                        <a:ea typeface="Inter" charset="0"/>
                        <a:cs typeface="Inter" charset="0"/>
                      </a:endParaRPr>
                    </a:p>
                  </a:txBody>
                  <a:tcPr marL="88900" marR="88900" marT="63500" marB="63500">
                    <a:lnL w="12700" cap="flat" cmpd="sng" algn="ctr">
                      <a:solidFill>
                        <a:srgbClr val="424B5B"/>
                      </a:solidFill>
                      <a:prstDash val="solid"/>
                      <a:round/>
                      <a:headEnd type="none" w="med" len="med"/>
                      <a:tailEnd type="none" w="med" len="med"/>
                    </a:lnL>
                    <a:lnR w="12700" cap="flat" cmpd="sng" algn="ctr">
                      <a:solidFill>
                        <a:srgbClr val="424B5B"/>
                      </a:solidFill>
                      <a:prstDash val="solid"/>
                      <a:round/>
                      <a:headEnd type="none" w="med" len="med"/>
                      <a:tailEnd type="none" w="med" len="med"/>
                    </a:lnR>
                    <a:lnT w="12700" cap="flat" cmpd="sng" algn="ctr">
                      <a:solidFill>
                        <a:srgbClr val="4FC5B7"/>
                      </a:solidFill>
                      <a:prstDash val="solid"/>
                      <a:round/>
                      <a:headEnd type="none" w="med" len="med"/>
                      <a:tailEnd type="none" w="med" len="med"/>
                    </a:lnT>
                    <a:lnB w="12700" cap="flat" cmpd="sng" algn="ctr">
                      <a:solidFill>
                        <a:srgbClr val="424B5B"/>
                      </a:solidFill>
                      <a:prstDash val="solid"/>
                      <a:round/>
                      <a:headEnd type="none" w="med" len="med"/>
                      <a:tailEnd type="none" w="med" len="med"/>
                    </a:lnB>
                  </a:tcPr>
                </a:tc>
                <a:tc>
                  <a:txBody>
                    <a:bodyPr/>
                    <a:lstStyle/>
                    <a:p>
                      <a:pPr marL="0" indent="0">
                        <a:lnSpc>
                          <a:spcPts val="1680"/>
                        </a:lnSpc>
                        <a:buNone/>
                      </a:pPr>
                      <a:r>
                        <a:rPr lang="en-US" sz="1200" dirty="0">
                          <a:solidFill>
                            <a:srgbClr val="F5F3EC"/>
                          </a:solidFill>
                          <a:latin typeface="Inter" pitchFamily="34" charset="0"/>
                          <a:ea typeface="Inter" pitchFamily="34" charset="-122"/>
                          <a:cs typeface="Inter" pitchFamily="34" charset="-120"/>
                        </a:rPr>
                        <a:t>₹60 L · 30%</a:t>
                      </a:r>
                      <a:endParaRPr lang="en-US" sz="1200" dirty="0">
                        <a:latin typeface="Inter" charset="0"/>
                        <a:ea typeface="Inter" charset="0"/>
                        <a:cs typeface="Inter" charset="0"/>
                      </a:endParaRPr>
                    </a:p>
                  </a:txBody>
                  <a:tcPr marL="88900" marR="88900" marT="63500" marB="63500">
                    <a:lnL w="12700" cap="flat" cmpd="sng" algn="ctr">
                      <a:solidFill>
                        <a:srgbClr val="424B5B"/>
                      </a:solidFill>
                      <a:prstDash val="solid"/>
                      <a:round/>
                      <a:headEnd type="none" w="med" len="med"/>
                      <a:tailEnd type="none" w="med" len="med"/>
                    </a:lnL>
                    <a:lnR w="12700" cap="flat" cmpd="sng" algn="ctr">
                      <a:solidFill>
                        <a:srgbClr val="424B5B"/>
                      </a:solidFill>
                      <a:prstDash val="solid"/>
                      <a:round/>
                      <a:headEnd type="none" w="med" len="med"/>
                      <a:tailEnd type="none" w="med" len="med"/>
                    </a:lnR>
                    <a:lnT w="12700" cap="flat" cmpd="sng" algn="ctr">
                      <a:solidFill>
                        <a:srgbClr val="4FC5B7"/>
                      </a:solidFill>
                      <a:prstDash val="solid"/>
                      <a:round/>
                      <a:headEnd type="none" w="med" len="med"/>
                      <a:tailEnd type="none" w="med" len="med"/>
                    </a:lnT>
                    <a:lnB w="12700" cap="flat" cmpd="sng" algn="ctr">
                      <a:solidFill>
                        <a:srgbClr val="424B5B"/>
                      </a:solidFill>
                      <a:prstDash val="solid"/>
                      <a:round/>
                      <a:headEnd type="none" w="med" len="med"/>
                      <a:tailEnd type="none" w="med" len="med"/>
                    </a:lnB>
                  </a:tcPr>
                </a:tc>
                <a:tc>
                  <a:txBody>
                    <a:bodyPr/>
                    <a:lstStyle/>
                    <a:p>
                      <a:pPr marL="0" indent="0">
                        <a:lnSpc>
                          <a:spcPts val="1680"/>
                        </a:lnSpc>
                        <a:buNone/>
                      </a:pPr>
                      <a:r>
                        <a:rPr lang="en-US" sz="1200" dirty="0">
                          <a:solidFill>
                            <a:srgbClr val="F5F3EC"/>
                          </a:solidFill>
                          <a:latin typeface="Inter" pitchFamily="34" charset="0"/>
                          <a:ea typeface="Inter" pitchFamily="34" charset="-122"/>
                          <a:cs typeface="Inter" pitchFamily="34" charset="-120"/>
                        </a:rPr>
                        <a:t>Productise repeatable solutions; build Quantum capability</a:t>
                      </a:r>
                      <a:endParaRPr lang="en-US" sz="1200" dirty="0">
                        <a:latin typeface="Inter" charset="0"/>
                        <a:ea typeface="Inter" charset="0"/>
                        <a:cs typeface="Inter" charset="0"/>
                      </a:endParaRPr>
                    </a:p>
                  </a:txBody>
                  <a:tcPr marL="88900" marR="88900" marT="63500" marB="63500">
                    <a:lnL w="12700" cap="flat" cmpd="sng" algn="ctr">
                      <a:solidFill>
                        <a:srgbClr val="424B5B"/>
                      </a:solidFill>
                      <a:prstDash val="solid"/>
                      <a:round/>
                      <a:headEnd type="none" w="med" len="med"/>
                      <a:tailEnd type="none" w="med" len="med"/>
                    </a:lnL>
                    <a:lnR w="12700" cap="flat" cmpd="sng" algn="ctr">
                      <a:solidFill>
                        <a:srgbClr val="424B5B"/>
                      </a:solidFill>
                      <a:prstDash val="solid"/>
                      <a:round/>
                      <a:headEnd type="none" w="med" len="med"/>
                      <a:tailEnd type="none" w="med" len="med"/>
                    </a:lnR>
                    <a:lnT w="12700" cap="flat" cmpd="sng" algn="ctr">
                      <a:solidFill>
                        <a:srgbClr val="4FC5B7"/>
                      </a:solidFill>
                      <a:prstDash val="solid"/>
                      <a:round/>
                      <a:headEnd type="none" w="med" len="med"/>
                      <a:tailEnd type="none" w="med" len="med"/>
                    </a:lnT>
                    <a:lnB w="12700" cap="flat" cmpd="sng" algn="ctr">
                      <a:solidFill>
                        <a:srgbClr val="424B5B"/>
                      </a:solidFill>
                      <a:prstDash val="solid"/>
                      <a:round/>
                      <a:headEnd type="none" w="med" len="med"/>
                      <a:tailEnd type="none" w="med" len="med"/>
                    </a:lnB>
                  </a:tcPr>
                </a:tc>
                <a:extLst>
                  <a:ext uri="{0D108BD9-81ED-4DB2-BD59-A6C34878D82A}">
                    <a16:rowId xmlns:a16="http://schemas.microsoft.com/office/drawing/2014/main" val="10001"/>
                  </a:ext>
                </a:extLst>
              </a:tr>
              <a:tr h="349618">
                <a:tc>
                  <a:txBody>
                    <a:bodyPr/>
                    <a:lstStyle/>
                    <a:p>
                      <a:pPr marL="0" indent="0">
                        <a:lnSpc>
                          <a:spcPts val="1680"/>
                        </a:lnSpc>
                        <a:buNone/>
                      </a:pPr>
                      <a:r>
                        <a:rPr lang="en-US" sz="1200" dirty="0">
                          <a:solidFill>
                            <a:srgbClr val="F5F3EC"/>
                          </a:solidFill>
                          <a:latin typeface="Inter" pitchFamily="34" charset="0"/>
                          <a:ea typeface="Inter" pitchFamily="34" charset="-122"/>
                          <a:cs typeface="Inter" pitchFamily="34" charset="-120"/>
                        </a:rPr>
                        <a:t>Sales &amp; Marketing</a:t>
                      </a:r>
                      <a:endParaRPr lang="en-US" sz="1200" dirty="0">
                        <a:latin typeface="Inter" charset="0"/>
                        <a:ea typeface="Inter" charset="0"/>
                        <a:cs typeface="Inter" charset="0"/>
                      </a:endParaRPr>
                    </a:p>
                  </a:txBody>
                  <a:tcPr marL="88900" marR="88900" marT="63500" marB="63500">
                    <a:lnL w="12700" cap="flat" cmpd="sng" algn="ctr">
                      <a:solidFill>
                        <a:srgbClr val="424B5B"/>
                      </a:solidFill>
                      <a:prstDash val="solid"/>
                      <a:round/>
                      <a:headEnd type="none" w="med" len="med"/>
                      <a:tailEnd type="none" w="med" len="med"/>
                    </a:lnL>
                    <a:lnR w="12700" cap="flat" cmpd="sng" algn="ctr">
                      <a:solidFill>
                        <a:srgbClr val="424B5B"/>
                      </a:solidFill>
                      <a:prstDash val="solid"/>
                      <a:round/>
                      <a:headEnd type="none" w="med" len="med"/>
                      <a:tailEnd type="none" w="med" len="med"/>
                    </a:lnR>
                    <a:lnT w="12700" cap="flat" cmpd="sng" algn="ctr">
                      <a:solidFill>
                        <a:srgbClr val="424B5B"/>
                      </a:solidFill>
                      <a:prstDash val="solid"/>
                      <a:round/>
                      <a:headEnd type="none" w="med" len="med"/>
                      <a:tailEnd type="none" w="med" len="med"/>
                    </a:lnT>
                    <a:lnB w="12700" cap="flat" cmpd="sng" algn="ctr">
                      <a:solidFill>
                        <a:srgbClr val="424B5B"/>
                      </a:solidFill>
                      <a:prstDash val="solid"/>
                      <a:round/>
                      <a:headEnd type="none" w="med" len="med"/>
                      <a:tailEnd type="none" w="med" len="med"/>
                    </a:lnB>
                  </a:tcPr>
                </a:tc>
                <a:tc>
                  <a:txBody>
                    <a:bodyPr/>
                    <a:lstStyle/>
                    <a:p>
                      <a:pPr marL="0" indent="0">
                        <a:lnSpc>
                          <a:spcPts val="1680"/>
                        </a:lnSpc>
                        <a:buNone/>
                      </a:pPr>
                      <a:r>
                        <a:rPr lang="en-US" sz="1200" dirty="0">
                          <a:solidFill>
                            <a:srgbClr val="F5F3EC"/>
                          </a:solidFill>
                          <a:latin typeface="Inter" pitchFamily="34" charset="0"/>
                          <a:ea typeface="Inter" pitchFamily="34" charset="-122"/>
                          <a:cs typeface="Inter" pitchFamily="34" charset="-120"/>
                        </a:rPr>
                        <a:t>₹50 L · 25%</a:t>
                      </a:r>
                      <a:endParaRPr lang="en-US" sz="1200" dirty="0">
                        <a:latin typeface="Inter" charset="0"/>
                        <a:ea typeface="Inter" charset="0"/>
                        <a:cs typeface="Inter" charset="0"/>
                      </a:endParaRPr>
                    </a:p>
                  </a:txBody>
                  <a:tcPr marL="88900" marR="88900" marT="63500" marB="63500">
                    <a:lnL w="12700" cap="flat" cmpd="sng" algn="ctr">
                      <a:solidFill>
                        <a:srgbClr val="424B5B"/>
                      </a:solidFill>
                      <a:prstDash val="solid"/>
                      <a:round/>
                      <a:headEnd type="none" w="med" len="med"/>
                      <a:tailEnd type="none" w="med" len="med"/>
                    </a:lnL>
                    <a:lnR w="12700" cap="flat" cmpd="sng" algn="ctr">
                      <a:solidFill>
                        <a:srgbClr val="424B5B"/>
                      </a:solidFill>
                      <a:prstDash val="solid"/>
                      <a:round/>
                      <a:headEnd type="none" w="med" len="med"/>
                      <a:tailEnd type="none" w="med" len="med"/>
                    </a:lnR>
                    <a:lnT w="12700" cap="flat" cmpd="sng" algn="ctr">
                      <a:solidFill>
                        <a:srgbClr val="424B5B"/>
                      </a:solidFill>
                      <a:prstDash val="solid"/>
                      <a:round/>
                      <a:headEnd type="none" w="med" len="med"/>
                      <a:tailEnd type="none" w="med" len="med"/>
                    </a:lnT>
                    <a:lnB w="12700" cap="flat" cmpd="sng" algn="ctr">
                      <a:solidFill>
                        <a:srgbClr val="424B5B"/>
                      </a:solidFill>
                      <a:prstDash val="solid"/>
                      <a:round/>
                      <a:headEnd type="none" w="med" len="med"/>
                      <a:tailEnd type="none" w="med" len="med"/>
                    </a:lnB>
                  </a:tcPr>
                </a:tc>
                <a:tc>
                  <a:txBody>
                    <a:bodyPr/>
                    <a:lstStyle/>
                    <a:p>
                      <a:pPr marL="0" indent="0">
                        <a:lnSpc>
                          <a:spcPts val="1680"/>
                        </a:lnSpc>
                        <a:buNone/>
                      </a:pPr>
                      <a:r>
                        <a:rPr lang="en-US" sz="1200" dirty="0">
                          <a:solidFill>
                            <a:srgbClr val="F5F3EC"/>
                          </a:solidFill>
                          <a:latin typeface="Inter" pitchFamily="34" charset="0"/>
                          <a:ea typeface="Inter" pitchFamily="34" charset="-122"/>
                          <a:cs typeface="Inter" pitchFamily="34" charset="-120"/>
                        </a:rPr>
                        <a:t>Measurable B2B pipeline in target regions</a:t>
                      </a:r>
                      <a:endParaRPr lang="en-US" sz="1200" dirty="0">
                        <a:latin typeface="Inter" charset="0"/>
                        <a:ea typeface="Inter" charset="0"/>
                        <a:cs typeface="Inter" charset="0"/>
                      </a:endParaRPr>
                    </a:p>
                  </a:txBody>
                  <a:tcPr marL="88900" marR="88900" marT="63500" marB="63500">
                    <a:lnL w="12700" cap="flat" cmpd="sng" algn="ctr">
                      <a:solidFill>
                        <a:srgbClr val="424B5B"/>
                      </a:solidFill>
                      <a:prstDash val="solid"/>
                      <a:round/>
                      <a:headEnd type="none" w="med" len="med"/>
                      <a:tailEnd type="none" w="med" len="med"/>
                    </a:lnL>
                    <a:lnR w="12700" cap="flat" cmpd="sng" algn="ctr">
                      <a:solidFill>
                        <a:srgbClr val="424B5B"/>
                      </a:solidFill>
                      <a:prstDash val="solid"/>
                      <a:round/>
                      <a:headEnd type="none" w="med" len="med"/>
                      <a:tailEnd type="none" w="med" len="med"/>
                    </a:lnR>
                    <a:lnT w="12700" cap="flat" cmpd="sng" algn="ctr">
                      <a:solidFill>
                        <a:srgbClr val="424B5B"/>
                      </a:solidFill>
                      <a:prstDash val="solid"/>
                      <a:round/>
                      <a:headEnd type="none" w="med" len="med"/>
                      <a:tailEnd type="none" w="med" len="med"/>
                    </a:lnT>
                    <a:lnB w="12700" cap="flat" cmpd="sng" algn="ctr">
                      <a:solidFill>
                        <a:srgbClr val="424B5B"/>
                      </a:solidFill>
                      <a:prstDash val="solid"/>
                      <a:round/>
                      <a:headEnd type="none" w="med" len="med"/>
                      <a:tailEnd type="none" w="med" len="med"/>
                    </a:lnB>
                  </a:tcPr>
                </a:tc>
                <a:extLst>
                  <a:ext uri="{0D108BD9-81ED-4DB2-BD59-A6C34878D82A}">
                    <a16:rowId xmlns:a16="http://schemas.microsoft.com/office/drawing/2014/main" val="10002"/>
                  </a:ext>
                </a:extLst>
              </a:tr>
              <a:tr h="562975">
                <a:tc>
                  <a:txBody>
                    <a:bodyPr/>
                    <a:lstStyle/>
                    <a:p>
                      <a:pPr marL="0" indent="0">
                        <a:lnSpc>
                          <a:spcPts val="1680"/>
                        </a:lnSpc>
                        <a:buNone/>
                      </a:pPr>
                      <a:r>
                        <a:rPr lang="en-US" sz="1200" dirty="0">
                          <a:solidFill>
                            <a:srgbClr val="F5F3EC"/>
                          </a:solidFill>
                          <a:latin typeface="Inter" pitchFamily="34" charset="0"/>
                          <a:ea typeface="Inter" pitchFamily="34" charset="-122"/>
                          <a:cs typeface="Inter" pitchFamily="34" charset="-120"/>
                        </a:rPr>
                        <a:t>Hiring</a:t>
                      </a:r>
                      <a:endParaRPr lang="en-US" sz="1200" dirty="0">
                        <a:latin typeface="Inter" charset="0"/>
                        <a:ea typeface="Inter" charset="0"/>
                        <a:cs typeface="Inter" charset="0"/>
                      </a:endParaRPr>
                    </a:p>
                  </a:txBody>
                  <a:tcPr marL="88900" marR="88900" marT="63500" marB="63500">
                    <a:lnL w="12700" cap="flat" cmpd="sng" algn="ctr">
                      <a:solidFill>
                        <a:srgbClr val="424B5B"/>
                      </a:solidFill>
                      <a:prstDash val="solid"/>
                      <a:round/>
                      <a:headEnd type="none" w="med" len="med"/>
                      <a:tailEnd type="none" w="med" len="med"/>
                    </a:lnL>
                    <a:lnR w="12700" cap="flat" cmpd="sng" algn="ctr">
                      <a:solidFill>
                        <a:srgbClr val="424B5B"/>
                      </a:solidFill>
                      <a:prstDash val="solid"/>
                      <a:round/>
                      <a:headEnd type="none" w="med" len="med"/>
                      <a:tailEnd type="none" w="med" len="med"/>
                    </a:lnR>
                    <a:lnT w="12700" cap="flat" cmpd="sng" algn="ctr">
                      <a:solidFill>
                        <a:srgbClr val="424B5B"/>
                      </a:solidFill>
                      <a:prstDash val="solid"/>
                      <a:round/>
                      <a:headEnd type="none" w="med" len="med"/>
                      <a:tailEnd type="none" w="med" len="med"/>
                    </a:lnT>
                    <a:lnB w="12700" cap="flat" cmpd="sng" algn="ctr">
                      <a:solidFill>
                        <a:srgbClr val="424B5B"/>
                      </a:solidFill>
                      <a:prstDash val="solid"/>
                      <a:round/>
                      <a:headEnd type="none" w="med" len="med"/>
                      <a:tailEnd type="none" w="med" len="med"/>
                    </a:lnB>
                  </a:tcPr>
                </a:tc>
                <a:tc>
                  <a:txBody>
                    <a:bodyPr/>
                    <a:lstStyle/>
                    <a:p>
                      <a:pPr marL="0" indent="0">
                        <a:lnSpc>
                          <a:spcPts val="1680"/>
                        </a:lnSpc>
                        <a:buNone/>
                      </a:pPr>
                      <a:r>
                        <a:rPr lang="en-US" sz="1200" dirty="0">
                          <a:solidFill>
                            <a:srgbClr val="F5F3EC"/>
                          </a:solidFill>
                          <a:latin typeface="Inter" pitchFamily="34" charset="0"/>
                          <a:ea typeface="Inter" pitchFamily="34" charset="-122"/>
                          <a:cs typeface="Inter" pitchFamily="34" charset="-120"/>
                        </a:rPr>
                        <a:t>₹40 L · 20%</a:t>
                      </a:r>
                      <a:endParaRPr lang="en-US" sz="1200" dirty="0">
                        <a:latin typeface="Inter" charset="0"/>
                        <a:ea typeface="Inter" charset="0"/>
                        <a:cs typeface="Inter" charset="0"/>
                      </a:endParaRPr>
                    </a:p>
                  </a:txBody>
                  <a:tcPr marL="88900" marR="88900" marT="63500" marB="63500">
                    <a:lnL w="12700" cap="flat" cmpd="sng" algn="ctr">
                      <a:solidFill>
                        <a:srgbClr val="424B5B"/>
                      </a:solidFill>
                      <a:prstDash val="solid"/>
                      <a:round/>
                      <a:headEnd type="none" w="med" len="med"/>
                      <a:tailEnd type="none" w="med" len="med"/>
                    </a:lnL>
                    <a:lnR w="12700" cap="flat" cmpd="sng" algn="ctr">
                      <a:solidFill>
                        <a:srgbClr val="424B5B"/>
                      </a:solidFill>
                      <a:prstDash val="solid"/>
                      <a:round/>
                      <a:headEnd type="none" w="med" len="med"/>
                      <a:tailEnd type="none" w="med" len="med"/>
                    </a:lnR>
                    <a:lnT w="12700" cap="flat" cmpd="sng" algn="ctr">
                      <a:solidFill>
                        <a:srgbClr val="424B5B"/>
                      </a:solidFill>
                      <a:prstDash val="solid"/>
                      <a:round/>
                      <a:headEnd type="none" w="med" len="med"/>
                      <a:tailEnd type="none" w="med" len="med"/>
                    </a:lnT>
                    <a:lnB w="12700" cap="flat" cmpd="sng" algn="ctr">
                      <a:solidFill>
                        <a:srgbClr val="424B5B"/>
                      </a:solidFill>
                      <a:prstDash val="solid"/>
                      <a:round/>
                      <a:headEnd type="none" w="med" len="med"/>
                      <a:tailEnd type="none" w="med" len="med"/>
                    </a:lnB>
                  </a:tcPr>
                </a:tc>
                <a:tc>
                  <a:txBody>
                    <a:bodyPr/>
                    <a:lstStyle/>
                    <a:p>
                      <a:pPr marL="0" indent="0">
                        <a:lnSpc>
                          <a:spcPts val="1680"/>
                        </a:lnSpc>
                        <a:buNone/>
                      </a:pPr>
                      <a:r>
                        <a:rPr lang="en-US" sz="1200" dirty="0">
                          <a:solidFill>
                            <a:srgbClr val="F5F3EC"/>
                          </a:solidFill>
                          <a:latin typeface="Inter" pitchFamily="34" charset="0"/>
                          <a:ea typeface="Inter" pitchFamily="34" charset="-122"/>
                          <a:cs typeface="Inter" pitchFamily="34" charset="-120"/>
                        </a:rPr>
                        <a:t>Technical and delivery staff against demand</a:t>
                      </a:r>
                      <a:endParaRPr lang="en-US" sz="1200" dirty="0">
                        <a:latin typeface="Inter" charset="0"/>
                        <a:ea typeface="Inter" charset="0"/>
                        <a:cs typeface="Inter" charset="0"/>
                      </a:endParaRPr>
                    </a:p>
                  </a:txBody>
                  <a:tcPr marL="88900" marR="88900" marT="63500" marB="63500">
                    <a:lnL w="12700" cap="flat" cmpd="sng" algn="ctr">
                      <a:solidFill>
                        <a:srgbClr val="424B5B"/>
                      </a:solidFill>
                      <a:prstDash val="solid"/>
                      <a:round/>
                      <a:headEnd type="none" w="med" len="med"/>
                      <a:tailEnd type="none" w="med" len="med"/>
                    </a:lnL>
                    <a:lnR w="12700" cap="flat" cmpd="sng" algn="ctr">
                      <a:solidFill>
                        <a:srgbClr val="424B5B"/>
                      </a:solidFill>
                      <a:prstDash val="solid"/>
                      <a:round/>
                      <a:headEnd type="none" w="med" len="med"/>
                      <a:tailEnd type="none" w="med" len="med"/>
                    </a:lnR>
                    <a:lnT w="12700" cap="flat" cmpd="sng" algn="ctr">
                      <a:solidFill>
                        <a:srgbClr val="424B5B"/>
                      </a:solidFill>
                      <a:prstDash val="solid"/>
                      <a:round/>
                      <a:headEnd type="none" w="med" len="med"/>
                      <a:tailEnd type="none" w="med" len="med"/>
                    </a:lnT>
                    <a:lnB w="12700" cap="flat" cmpd="sng" algn="ctr">
                      <a:solidFill>
                        <a:srgbClr val="424B5B"/>
                      </a:solidFill>
                      <a:prstDash val="solid"/>
                      <a:round/>
                      <a:headEnd type="none" w="med" len="med"/>
                      <a:tailEnd type="none" w="med" len="med"/>
                    </a:lnB>
                  </a:tcPr>
                </a:tc>
                <a:extLst>
                  <a:ext uri="{0D108BD9-81ED-4DB2-BD59-A6C34878D82A}">
                    <a16:rowId xmlns:a16="http://schemas.microsoft.com/office/drawing/2014/main" val="10003"/>
                  </a:ext>
                </a:extLst>
              </a:tr>
              <a:tr h="562975">
                <a:tc>
                  <a:txBody>
                    <a:bodyPr/>
                    <a:lstStyle/>
                    <a:p>
                      <a:pPr marL="0" indent="0">
                        <a:lnSpc>
                          <a:spcPts val="1680"/>
                        </a:lnSpc>
                        <a:buNone/>
                      </a:pPr>
                      <a:r>
                        <a:rPr lang="en-US" sz="1200" dirty="0">
                          <a:solidFill>
                            <a:srgbClr val="F5F3EC"/>
                          </a:solidFill>
                          <a:latin typeface="Inter" pitchFamily="34" charset="0"/>
                          <a:ea typeface="Inter" pitchFamily="34" charset="-122"/>
                          <a:cs typeface="Inter" pitchFamily="34" charset="-120"/>
                        </a:rPr>
                        <a:t>Infrastructure</a:t>
                      </a:r>
                      <a:endParaRPr lang="en-US" sz="1200" dirty="0">
                        <a:latin typeface="Inter" charset="0"/>
                        <a:ea typeface="Inter" charset="0"/>
                        <a:cs typeface="Inter" charset="0"/>
                      </a:endParaRPr>
                    </a:p>
                  </a:txBody>
                  <a:tcPr marL="88900" marR="88900" marT="63500" marB="63500">
                    <a:lnL w="12700" cap="flat" cmpd="sng" algn="ctr">
                      <a:solidFill>
                        <a:srgbClr val="424B5B"/>
                      </a:solidFill>
                      <a:prstDash val="solid"/>
                      <a:round/>
                      <a:headEnd type="none" w="med" len="med"/>
                      <a:tailEnd type="none" w="med" len="med"/>
                    </a:lnL>
                    <a:lnR w="12700" cap="flat" cmpd="sng" algn="ctr">
                      <a:solidFill>
                        <a:srgbClr val="424B5B"/>
                      </a:solidFill>
                      <a:prstDash val="solid"/>
                      <a:round/>
                      <a:headEnd type="none" w="med" len="med"/>
                      <a:tailEnd type="none" w="med" len="med"/>
                    </a:lnR>
                    <a:lnT w="12700" cap="flat" cmpd="sng" algn="ctr">
                      <a:solidFill>
                        <a:srgbClr val="424B5B"/>
                      </a:solidFill>
                      <a:prstDash val="solid"/>
                      <a:round/>
                      <a:headEnd type="none" w="med" len="med"/>
                      <a:tailEnd type="none" w="med" len="med"/>
                    </a:lnT>
                    <a:lnB w="12700" cap="flat" cmpd="sng" algn="ctr">
                      <a:solidFill>
                        <a:srgbClr val="424B5B"/>
                      </a:solidFill>
                      <a:prstDash val="solid"/>
                      <a:round/>
                      <a:headEnd type="none" w="med" len="med"/>
                      <a:tailEnd type="none" w="med" len="med"/>
                    </a:lnB>
                  </a:tcPr>
                </a:tc>
                <a:tc>
                  <a:txBody>
                    <a:bodyPr/>
                    <a:lstStyle/>
                    <a:p>
                      <a:pPr marL="0" indent="0">
                        <a:lnSpc>
                          <a:spcPts val="1680"/>
                        </a:lnSpc>
                        <a:buNone/>
                      </a:pPr>
                      <a:r>
                        <a:rPr lang="en-US" sz="1200" dirty="0">
                          <a:solidFill>
                            <a:srgbClr val="F5F3EC"/>
                          </a:solidFill>
                          <a:latin typeface="Inter" pitchFamily="34" charset="0"/>
                          <a:ea typeface="Inter" pitchFamily="34" charset="-122"/>
                          <a:cs typeface="Inter" pitchFamily="34" charset="-120"/>
                        </a:rPr>
                        <a:t>₹20 L · 10%</a:t>
                      </a:r>
                      <a:endParaRPr lang="en-US" sz="1200" dirty="0">
                        <a:latin typeface="Inter" charset="0"/>
                        <a:ea typeface="Inter" charset="0"/>
                        <a:cs typeface="Inter" charset="0"/>
                      </a:endParaRPr>
                    </a:p>
                  </a:txBody>
                  <a:tcPr marL="88900" marR="88900" marT="63500" marB="63500">
                    <a:lnL w="12700" cap="flat" cmpd="sng" algn="ctr">
                      <a:solidFill>
                        <a:srgbClr val="424B5B"/>
                      </a:solidFill>
                      <a:prstDash val="solid"/>
                      <a:round/>
                      <a:headEnd type="none" w="med" len="med"/>
                      <a:tailEnd type="none" w="med" len="med"/>
                    </a:lnL>
                    <a:lnR w="12700" cap="flat" cmpd="sng" algn="ctr">
                      <a:solidFill>
                        <a:srgbClr val="424B5B"/>
                      </a:solidFill>
                      <a:prstDash val="solid"/>
                      <a:round/>
                      <a:headEnd type="none" w="med" len="med"/>
                      <a:tailEnd type="none" w="med" len="med"/>
                    </a:lnR>
                    <a:lnT w="12700" cap="flat" cmpd="sng" algn="ctr">
                      <a:solidFill>
                        <a:srgbClr val="424B5B"/>
                      </a:solidFill>
                      <a:prstDash val="solid"/>
                      <a:round/>
                      <a:headEnd type="none" w="med" len="med"/>
                      <a:tailEnd type="none" w="med" len="med"/>
                    </a:lnT>
                    <a:lnB w="12700" cap="flat" cmpd="sng" algn="ctr">
                      <a:solidFill>
                        <a:srgbClr val="424B5B"/>
                      </a:solidFill>
                      <a:prstDash val="solid"/>
                      <a:round/>
                      <a:headEnd type="none" w="med" len="med"/>
                      <a:tailEnd type="none" w="med" len="med"/>
                    </a:lnB>
                  </a:tcPr>
                </a:tc>
                <a:tc>
                  <a:txBody>
                    <a:bodyPr/>
                    <a:lstStyle/>
                    <a:p>
                      <a:pPr marL="0" indent="0">
                        <a:lnSpc>
                          <a:spcPts val="1680"/>
                        </a:lnSpc>
                        <a:buNone/>
                      </a:pPr>
                      <a:r>
                        <a:rPr lang="en-US" sz="1200" dirty="0">
                          <a:solidFill>
                            <a:srgbClr val="F5F3EC"/>
                          </a:solidFill>
                          <a:latin typeface="Inter" pitchFamily="34" charset="0"/>
                          <a:ea typeface="Inter" pitchFamily="34" charset="-122"/>
                          <a:cs typeface="Inter" pitchFamily="34" charset="-120"/>
                        </a:rPr>
                        <a:t>Secure development, testing and cloud operations</a:t>
                      </a:r>
                      <a:endParaRPr lang="en-US" sz="1200" dirty="0">
                        <a:latin typeface="Inter" charset="0"/>
                        <a:ea typeface="Inter" charset="0"/>
                        <a:cs typeface="Inter" charset="0"/>
                      </a:endParaRPr>
                    </a:p>
                  </a:txBody>
                  <a:tcPr marL="88900" marR="88900" marT="63500" marB="63500">
                    <a:lnL w="12700" cap="flat" cmpd="sng" algn="ctr">
                      <a:solidFill>
                        <a:srgbClr val="424B5B"/>
                      </a:solidFill>
                      <a:prstDash val="solid"/>
                      <a:round/>
                      <a:headEnd type="none" w="med" len="med"/>
                      <a:tailEnd type="none" w="med" len="med"/>
                    </a:lnL>
                    <a:lnR w="12700" cap="flat" cmpd="sng" algn="ctr">
                      <a:solidFill>
                        <a:srgbClr val="424B5B"/>
                      </a:solidFill>
                      <a:prstDash val="solid"/>
                      <a:round/>
                      <a:headEnd type="none" w="med" len="med"/>
                      <a:tailEnd type="none" w="med" len="med"/>
                    </a:lnR>
                    <a:lnT w="12700" cap="flat" cmpd="sng" algn="ctr">
                      <a:solidFill>
                        <a:srgbClr val="424B5B"/>
                      </a:solidFill>
                      <a:prstDash val="solid"/>
                      <a:round/>
                      <a:headEnd type="none" w="med" len="med"/>
                      <a:tailEnd type="none" w="med" len="med"/>
                    </a:lnT>
                    <a:lnB w="12700" cap="flat" cmpd="sng" algn="ctr">
                      <a:solidFill>
                        <a:srgbClr val="424B5B"/>
                      </a:solidFill>
                      <a:prstDash val="solid"/>
                      <a:round/>
                      <a:headEnd type="none" w="med" len="med"/>
                      <a:tailEnd type="none" w="med" len="med"/>
                    </a:lnB>
                  </a:tcPr>
                </a:tc>
                <a:extLst>
                  <a:ext uri="{0D108BD9-81ED-4DB2-BD59-A6C34878D82A}">
                    <a16:rowId xmlns:a16="http://schemas.microsoft.com/office/drawing/2014/main" val="10004"/>
                  </a:ext>
                </a:extLst>
              </a:tr>
              <a:tr h="562975">
                <a:tc>
                  <a:txBody>
                    <a:bodyPr/>
                    <a:lstStyle/>
                    <a:p>
                      <a:pPr marL="0" indent="0">
                        <a:lnSpc>
                          <a:spcPts val="1680"/>
                        </a:lnSpc>
                        <a:buNone/>
                      </a:pPr>
                      <a:r>
                        <a:rPr lang="en-US" sz="1200" dirty="0">
                          <a:solidFill>
                            <a:srgbClr val="F5F3EC"/>
                          </a:solidFill>
                          <a:latin typeface="Inter" pitchFamily="34" charset="0"/>
                          <a:ea typeface="Inter" pitchFamily="34" charset="-122"/>
                          <a:cs typeface="Inter" pitchFamily="34" charset="-120"/>
                        </a:rPr>
                        <a:t>Security &amp; Compliance</a:t>
                      </a:r>
                      <a:endParaRPr lang="en-US" sz="1200" dirty="0">
                        <a:latin typeface="Inter" charset="0"/>
                        <a:ea typeface="Inter" charset="0"/>
                        <a:cs typeface="Inter" charset="0"/>
                      </a:endParaRPr>
                    </a:p>
                  </a:txBody>
                  <a:tcPr marL="88900" marR="88900" marT="63500" marB="63500">
                    <a:lnL w="12700" cap="flat" cmpd="sng" algn="ctr">
                      <a:solidFill>
                        <a:srgbClr val="424B5B"/>
                      </a:solidFill>
                      <a:prstDash val="solid"/>
                      <a:round/>
                      <a:headEnd type="none" w="med" len="med"/>
                      <a:tailEnd type="none" w="med" len="med"/>
                    </a:lnL>
                    <a:lnR w="12700" cap="flat" cmpd="sng" algn="ctr">
                      <a:solidFill>
                        <a:srgbClr val="424B5B"/>
                      </a:solidFill>
                      <a:prstDash val="solid"/>
                      <a:round/>
                      <a:headEnd type="none" w="med" len="med"/>
                      <a:tailEnd type="none" w="med" len="med"/>
                    </a:lnR>
                    <a:lnT w="12700" cap="flat" cmpd="sng" algn="ctr">
                      <a:solidFill>
                        <a:srgbClr val="424B5B"/>
                      </a:solidFill>
                      <a:prstDash val="solid"/>
                      <a:round/>
                      <a:headEnd type="none" w="med" len="med"/>
                      <a:tailEnd type="none" w="med" len="med"/>
                    </a:lnT>
                    <a:lnB w="12700" cap="flat" cmpd="sng" algn="ctr">
                      <a:solidFill>
                        <a:srgbClr val="424B5B"/>
                      </a:solidFill>
                      <a:prstDash val="solid"/>
                      <a:round/>
                      <a:headEnd type="none" w="med" len="med"/>
                      <a:tailEnd type="none" w="med" len="med"/>
                    </a:lnB>
                  </a:tcPr>
                </a:tc>
                <a:tc>
                  <a:txBody>
                    <a:bodyPr/>
                    <a:lstStyle/>
                    <a:p>
                      <a:pPr marL="0" indent="0">
                        <a:lnSpc>
                          <a:spcPts val="1680"/>
                        </a:lnSpc>
                        <a:buNone/>
                      </a:pPr>
                      <a:r>
                        <a:rPr lang="en-US" sz="1200" dirty="0">
                          <a:solidFill>
                            <a:srgbClr val="F5F3EC"/>
                          </a:solidFill>
                          <a:latin typeface="Inter" pitchFamily="34" charset="0"/>
                          <a:ea typeface="Inter" pitchFamily="34" charset="-122"/>
                          <a:cs typeface="Inter" pitchFamily="34" charset="-120"/>
                        </a:rPr>
                        <a:t>₹20 L · 10%</a:t>
                      </a:r>
                      <a:endParaRPr lang="en-US" sz="1200" dirty="0">
                        <a:latin typeface="Inter" charset="0"/>
                        <a:ea typeface="Inter" charset="0"/>
                        <a:cs typeface="Inter" charset="0"/>
                      </a:endParaRPr>
                    </a:p>
                  </a:txBody>
                  <a:tcPr marL="88900" marR="88900" marT="63500" marB="63500">
                    <a:lnL w="12700" cap="flat" cmpd="sng" algn="ctr">
                      <a:solidFill>
                        <a:srgbClr val="424B5B"/>
                      </a:solidFill>
                      <a:prstDash val="solid"/>
                      <a:round/>
                      <a:headEnd type="none" w="med" len="med"/>
                      <a:tailEnd type="none" w="med" len="med"/>
                    </a:lnL>
                    <a:lnR w="12700" cap="flat" cmpd="sng" algn="ctr">
                      <a:solidFill>
                        <a:srgbClr val="424B5B"/>
                      </a:solidFill>
                      <a:prstDash val="solid"/>
                      <a:round/>
                      <a:headEnd type="none" w="med" len="med"/>
                      <a:tailEnd type="none" w="med" len="med"/>
                    </a:lnR>
                    <a:lnT w="12700" cap="flat" cmpd="sng" algn="ctr">
                      <a:solidFill>
                        <a:srgbClr val="424B5B"/>
                      </a:solidFill>
                      <a:prstDash val="solid"/>
                      <a:round/>
                      <a:headEnd type="none" w="med" len="med"/>
                      <a:tailEnd type="none" w="med" len="med"/>
                    </a:lnT>
                    <a:lnB w="12700" cap="flat" cmpd="sng" algn="ctr">
                      <a:solidFill>
                        <a:srgbClr val="424B5B"/>
                      </a:solidFill>
                      <a:prstDash val="solid"/>
                      <a:round/>
                      <a:headEnd type="none" w="med" len="med"/>
                      <a:tailEnd type="none" w="med" len="med"/>
                    </a:lnB>
                  </a:tcPr>
                </a:tc>
                <a:tc>
                  <a:txBody>
                    <a:bodyPr/>
                    <a:lstStyle/>
                    <a:p>
                      <a:pPr marL="0" indent="0">
                        <a:lnSpc>
                          <a:spcPts val="1680"/>
                        </a:lnSpc>
                        <a:buNone/>
                      </a:pPr>
                      <a:r>
                        <a:rPr lang="en-US" sz="1200" dirty="0">
                          <a:solidFill>
                            <a:srgbClr val="F5F3EC"/>
                          </a:solidFill>
                          <a:latin typeface="Inter" pitchFamily="34" charset="0"/>
                          <a:ea typeface="Inter" pitchFamily="34" charset="-122"/>
                          <a:cs typeface="Inter" pitchFamily="34" charset="-120"/>
                        </a:rPr>
                        <a:t>Internal controls and ISO 27001 audit readiness</a:t>
                      </a:r>
                      <a:endParaRPr lang="en-US" sz="1200" dirty="0">
                        <a:latin typeface="Inter" charset="0"/>
                        <a:ea typeface="Inter" charset="0"/>
                        <a:cs typeface="Inter" charset="0"/>
                      </a:endParaRPr>
                    </a:p>
                  </a:txBody>
                  <a:tcPr marL="88900" marR="88900" marT="63500" marB="63500">
                    <a:lnL w="12700" cap="flat" cmpd="sng" algn="ctr">
                      <a:solidFill>
                        <a:srgbClr val="424B5B"/>
                      </a:solidFill>
                      <a:prstDash val="solid"/>
                      <a:round/>
                      <a:headEnd type="none" w="med" len="med"/>
                      <a:tailEnd type="none" w="med" len="med"/>
                    </a:lnL>
                    <a:lnR w="12700" cap="flat" cmpd="sng" algn="ctr">
                      <a:solidFill>
                        <a:srgbClr val="424B5B"/>
                      </a:solidFill>
                      <a:prstDash val="solid"/>
                      <a:round/>
                      <a:headEnd type="none" w="med" len="med"/>
                      <a:tailEnd type="none" w="med" len="med"/>
                    </a:lnR>
                    <a:lnT w="12700" cap="flat" cmpd="sng" algn="ctr">
                      <a:solidFill>
                        <a:srgbClr val="424B5B"/>
                      </a:solidFill>
                      <a:prstDash val="solid"/>
                      <a:round/>
                      <a:headEnd type="none" w="med" len="med"/>
                      <a:tailEnd type="none" w="med" len="med"/>
                    </a:lnT>
                    <a:lnB w="12700" cap="flat" cmpd="sng" algn="ctr">
                      <a:solidFill>
                        <a:srgbClr val="424B5B"/>
                      </a:solidFill>
                      <a:prstDash val="solid"/>
                      <a:round/>
                      <a:headEnd type="none" w="med" len="med"/>
                      <a:tailEnd type="none" w="med" len="med"/>
                    </a:lnB>
                  </a:tcPr>
                </a:tc>
                <a:extLst>
                  <a:ext uri="{0D108BD9-81ED-4DB2-BD59-A6C34878D82A}">
                    <a16:rowId xmlns:a16="http://schemas.microsoft.com/office/drawing/2014/main" val="10005"/>
                  </a:ext>
                </a:extLst>
              </a:tr>
              <a:tr h="349618">
                <a:tc>
                  <a:txBody>
                    <a:bodyPr/>
                    <a:lstStyle/>
                    <a:p>
                      <a:pPr marL="0" indent="0">
                        <a:lnSpc>
                          <a:spcPts val="1680"/>
                        </a:lnSpc>
                        <a:buNone/>
                      </a:pPr>
                      <a:r>
                        <a:rPr lang="en-US" sz="1200" dirty="0">
                          <a:solidFill>
                            <a:srgbClr val="F5F3EC"/>
                          </a:solidFill>
                          <a:latin typeface="Inter" pitchFamily="34" charset="0"/>
                          <a:ea typeface="Inter" pitchFamily="34" charset="-122"/>
                          <a:cs typeface="Inter" pitchFamily="34" charset="-120"/>
                        </a:rPr>
                        <a:t>Working Capital</a:t>
                      </a:r>
                      <a:endParaRPr lang="en-US" sz="1200" dirty="0">
                        <a:latin typeface="Inter" charset="0"/>
                        <a:ea typeface="Inter" charset="0"/>
                        <a:cs typeface="Inter" charset="0"/>
                      </a:endParaRPr>
                    </a:p>
                  </a:txBody>
                  <a:tcPr marL="88900" marR="88900" marT="63500" marB="63500">
                    <a:lnL w="12700" cap="flat" cmpd="sng" algn="ctr">
                      <a:solidFill>
                        <a:srgbClr val="424B5B"/>
                      </a:solidFill>
                      <a:prstDash val="solid"/>
                      <a:round/>
                      <a:headEnd type="none" w="med" len="med"/>
                      <a:tailEnd type="none" w="med" len="med"/>
                    </a:lnL>
                    <a:lnR w="12700" cap="flat" cmpd="sng" algn="ctr">
                      <a:solidFill>
                        <a:srgbClr val="424B5B"/>
                      </a:solidFill>
                      <a:prstDash val="solid"/>
                      <a:round/>
                      <a:headEnd type="none" w="med" len="med"/>
                      <a:tailEnd type="none" w="med" len="med"/>
                    </a:lnR>
                    <a:lnT w="12700" cap="flat" cmpd="sng" algn="ctr">
                      <a:solidFill>
                        <a:srgbClr val="424B5B"/>
                      </a:solidFill>
                      <a:prstDash val="solid"/>
                      <a:round/>
                      <a:headEnd type="none" w="med" len="med"/>
                      <a:tailEnd type="none" w="med" len="med"/>
                    </a:lnT>
                    <a:lnB w="12700" cap="flat" cmpd="sng" algn="ctr">
                      <a:solidFill>
                        <a:srgbClr val="424B5B"/>
                      </a:solidFill>
                      <a:prstDash val="solid"/>
                      <a:round/>
                      <a:headEnd type="none" w="med" len="med"/>
                      <a:tailEnd type="none" w="med" len="med"/>
                    </a:lnB>
                  </a:tcPr>
                </a:tc>
                <a:tc>
                  <a:txBody>
                    <a:bodyPr/>
                    <a:lstStyle/>
                    <a:p>
                      <a:pPr marL="0" indent="0">
                        <a:lnSpc>
                          <a:spcPts val="1680"/>
                        </a:lnSpc>
                        <a:buNone/>
                      </a:pPr>
                      <a:r>
                        <a:rPr lang="en-US" sz="1200" dirty="0">
                          <a:solidFill>
                            <a:srgbClr val="F5F3EC"/>
                          </a:solidFill>
                          <a:latin typeface="Inter" pitchFamily="34" charset="0"/>
                          <a:ea typeface="Inter" pitchFamily="34" charset="-122"/>
                          <a:cs typeface="Inter" pitchFamily="34" charset="-120"/>
                        </a:rPr>
                        <a:t>₹10 L · 5%</a:t>
                      </a:r>
                      <a:endParaRPr lang="en-US" sz="1200" dirty="0">
                        <a:latin typeface="Inter" charset="0"/>
                        <a:ea typeface="Inter" charset="0"/>
                        <a:cs typeface="Inter" charset="0"/>
                      </a:endParaRPr>
                    </a:p>
                  </a:txBody>
                  <a:tcPr marL="88900" marR="88900" marT="63500" marB="63500">
                    <a:lnL w="12700" cap="flat" cmpd="sng" algn="ctr">
                      <a:solidFill>
                        <a:srgbClr val="424B5B"/>
                      </a:solidFill>
                      <a:prstDash val="solid"/>
                      <a:round/>
                      <a:headEnd type="none" w="med" len="med"/>
                      <a:tailEnd type="none" w="med" len="med"/>
                    </a:lnL>
                    <a:lnR w="12700" cap="flat" cmpd="sng" algn="ctr">
                      <a:solidFill>
                        <a:srgbClr val="424B5B"/>
                      </a:solidFill>
                      <a:prstDash val="solid"/>
                      <a:round/>
                      <a:headEnd type="none" w="med" len="med"/>
                      <a:tailEnd type="none" w="med" len="med"/>
                    </a:lnR>
                    <a:lnT w="12700" cap="flat" cmpd="sng" algn="ctr">
                      <a:solidFill>
                        <a:srgbClr val="424B5B"/>
                      </a:solidFill>
                      <a:prstDash val="solid"/>
                      <a:round/>
                      <a:headEnd type="none" w="med" len="med"/>
                      <a:tailEnd type="none" w="med" len="med"/>
                    </a:lnT>
                    <a:lnB w="12700" cap="flat" cmpd="sng" algn="ctr">
                      <a:solidFill>
                        <a:srgbClr val="424B5B"/>
                      </a:solidFill>
                      <a:prstDash val="solid"/>
                      <a:round/>
                      <a:headEnd type="none" w="med" len="med"/>
                      <a:tailEnd type="none" w="med" len="med"/>
                    </a:lnB>
                  </a:tcPr>
                </a:tc>
                <a:tc>
                  <a:txBody>
                    <a:bodyPr/>
                    <a:lstStyle/>
                    <a:p>
                      <a:pPr marL="0" indent="0">
                        <a:lnSpc>
                          <a:spcPts val="1680"/>
                        </a:lnSpc>
                        <a:buNone/>
                      </a:pPr>
                      <a:r>
                        <a:rPr lang="en-US" sz="1200" dirty="0">
                          <a:solidFill>
                            <a:srgbClr val="F5F3EC"/>
                          </a:solidFill>
                          <a:latin typeface="Inter" pitchFamily="34" charset="0"/>
                          <a:ea typeface="Inter" pitchFamily="34" charset="-122"/>
                          <a:cs typeface="Inter" pitchFamily="34" charset="-120"/>
                        </a:rPr>
                        <a:t>Buffer for client collection timing</a:t>
                      </a:r>
                      <a:endParaRPr lang="en-US" sz="1200" dirty="0">
                        <a:latin typeface="Inter" charset="0"/>
                        <a:ea typeface="Inter" charset="0"/>
                        <a:cs typeface="Inter" charset="0"/>
                      </a:endParaRPr>
                    </a:p>
                  </a:txBody>
                  <a:tcPr marL="88900" marR="88900" marT="63500" marB="63500">
                    <a:lnL w="12700" cap="flat" cmpd="sng" algn="ctr">
                      <a:solidFill>
                        <a:srgbClr val="424B5B"/>
                      </a:solidFill>
                      <a:prstDash val="solid"/>
                      <a:round/>
                      <a:headEnd type="none" w="med" len="med"/>
                      <a:tailEnd type="none" w="med" len="med"/>
                    </a:lnL>
                    <a:lnR w="12700" cap="flat" cmpd="sng" algn="ctr">
                      <a:solidFill>
                        <a:srgbClr val="424B5B"/>
                      </a:solidFill>
                      <a:prstDash val="solid"/>
                      <a:round/>
                      <a:headEnd type="none" w="med" len="med"/>
                      <a:tailEnd type="none" w="med" len="med"/>
                    </a:lnR>
                    <a:lnT w="12700" cap="flat" cmpd="sng" algn="ctr">
                      <a:solidFill>
                        <a:srgbClr val="424B5B"/>
                      </a:solidFill>
                      <a:prstDash val="solid"/>
                      <a:round/>
                      <a:headEnd type="none" w="med" len="med"/>
                      <a:tailEnd type="none" w="med" len="med"/>
                    </a:lnT>
                    <a:lnB w="12700" cap="flat" cmpd="sng" algn="ctr">
                      <a:solidFill>
                        <a:srgbClr val="424B5B"/>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9" name="Text 6"/>
          <p:cNvSpPr/>
          <p:nvPr/>
        </p:nvSpPr>
        <p:spPr>
          <a:xfrm>
            <a:off x="812785" y="4999155"/>
            <a:ext cx="10883348" cy="25646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C9D3E3"/>
                </a:solidFill>
                <a:latin typeface="Inter" pitchFamily="34" charset="0"/>
                <a:ea typeface="Inter" pitchFamily="34" charset="-122"/>
                <a:cs typeface="Inter" pitchFamily="34" charset="-120"/>
              </a:rPr>
              <a:t>Capital is deployed against milestones, with a named owner, budget and outcome for every allocation.</a:t>
            </a:r>
            <a:endParaRPr lang="en-US" sz="1300" dirty="0"/>
          </a:p>
        </p:txBody>
      </p:sp>
      <p:sp>
        <p:nvSpPr>
          <p:cNvPr id="10" name="Text 7"/>
          <p:cNvSpPr/>
          <p:nvPr/>
        </p:nvSpPr>
        <p:spPr>
          <a:xfrm>
            <a:off x="812785" y="6238211"/>
            <a:ext cx="5886375" cy="23875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9B6CC"/>
                </a:solidFill>
                <a:latin typeface="Inter" pitchFamily="34" charset="0"/>
                <a:ea typeface="Inter" pitchFamily="34" charset="-122"/>
                <a:cs typeface="Inter" pitchFamily="34" charset="-120"/>
              </a:rPr>
              <a:t>Anvexa · Investor Pitch</a:t>
            </a:r>
            <a:endParaRPr lang="en-US" sz="1200" dirty="0"/>
          </a:p>
        </p:txBody>
      </p:sp>
      <p:sp>
        <p:nvSpPr>
          <p:cNvPr id="11" name="Text 8"/>
          <p:cNvSpPr/>
          <p:nvPr/>
        </p:nvSpPr>
        <p:spPr>
          <a:xfrm>
            <a:off x="10693416" y="6238211"/>
            <a:ext cx="685727" cy="238757"/>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A9B6CC"/>
                </a:solidFill>
                <a:latin typeface="Inter" pitchFamily="34" charset="0"/>
                <a:ea typeface="Inter" pitchFamily="34" charset="-122"/>
                <a:cs typeface="Inter" pitchFamily="34" charset="-120"/>
              </a:rPr>
              <a:t>11</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5F3EC"/>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785" y="812788"/>
            <a:ext cx="10883348" cy="444471"/>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0E1A2F"/>
                </a:solidFill>
                <a:latin typeface="Sora" pitchFamily="34" charset="0"/>
                <a:ea typeface="Sora" pitchFamily="34" charset="-122"/>
                <a:cs typeface="Sora" pitchFamily="34" charset="-120"/>
              </a:rPr>
              <a:t>Investor Value &amp; Risk Management</a:t>
            </a:r>
            <a:endParaRPr lang="en-US" sz="3000" dirty="0"/>
          </a:p>
        </p:txBody>
      </p:sp>
      <p:sp>
        <p:nvSpPr>
          <p:cNvPr id="3" name="Shape 1"/>
          <p:cNvSpPr/>
          <p:nvPr/>
        </p:nvSpPr>
        <p:spPr>
          <a:xfrm>
            <a:off x="815960" y="1412819"/>
            <a:ext cx="5175221" cy="2145668"/>
          </a:xfrm>
          <a:prstGeom prst="roundRect">
            <a:avLst>
              <a:gd name="adj" fmla="val 4587"/>
            </a:avLst>
          </a:prstGeom>
          <a:solidFill>
            <a:srgbClr val="FFFFFF"/>
          </a:solidFill>
          <a:ln w="6350">
            <a:solidFill>
              <a:srgbClr val="E2DED2"/>
            </a:solidFill>
            <a:prstDash val="solid"/>
          </a:ln>
        </p:spPr>
      </p:sp>
      <p:sp>
        <p:nvSpPr>
          <p:cNvPr id="4" name="Text 2"/>
          <p:cNvSpPr/>
          <p:nvPr/>
        </p:nvSpPr>
        <p:spPr>
          <a:xfrm>
            <a:off x="995274" y="1592132"/>
            <a:ext cx="4961091" cy="253971"/>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F7F74"/>
                </a:solidFill>
                <a:latin typeface="Inter" pitchFamily="34" charset="0"/>
                <a:ea typeface="Inter" pitchFamily="34" charset="-122"/>
                <a:cs typeface="Inter" pitchFamily="34" charset="-120"/>
              </a:rPr>
              <a:t>Investor Value Proposition</a:t>
            </a:r>
            <a:endParaRPr lang="en-US" sz="1500" dirty="0"/>
          </a:p>
        </p:txBody>
      </p:sp>
      <p:sp>
        <p:nvSpPr>
          <p:cNvPr id="5" name="Text 3"/>
          <p:cNvSpPr/>
          <p:nvPr/>
        </p:nvSpPr>
        <p:spPr>
          <a:xfrm>
            <a:off x="995274" y="1909558"/>
            <a:ext cx="4961091" cy="248238"/>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0E1A2F"/>
                </a:solidFill>
                <a:latin typeface="Inter" pitchFamily="34" charset="0"/>
                <a:ea typeface="Inter" pitchFamily="34" charset="-122"/>
                <a:cs typeface="Inter" pitchFamily="34" charset="-120"/>
              </a:rPr>
              <a:t>· Participation in future growth</a:t>
            </a:r>
            <a:endParaRPr lang="en-US" sz="1300" dirty="0"/>
          </a:p>
        </p:txBody>
      </p:sp>
      <p:sp>
        <p:nvSpPr>
          <p:cNvPr id="6" name="Text 4"/>
          <p:cNvSpPr/>
          <p:nvPr/>
        </p:nvSpPr>
        <p:spPr>
          <a:xfrm>
            <a:off x="995274" y="2221254"/>
            <a:ext cx="4961091" cy="248238"/>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0E1A2F"/>
                </a:solidFill>
                <a:latin typeface="Inter" pitchFamily="34" charset="0"/>
                <a:ea typeface="Inter" pitchFamily="34" charset="-122"/>
                <a:cs typeface="Inter" pitchFamily="34" charset="-120"/>
              </a:rPr>
              <a:t>· Potential equity value increase if the business succeeds</a:t>
            </a:r>
            <a:endParaRPr lang="en-US" sz="1300" dirty="0"/>
          </a:p>
        </p:txBody>
      </p:sp>
      <p:sp>
        <p:nvSpPr>
          <p:cNvPr id="7" name="Text 5"/>
          <p:cNvSpPr/>
          <p:nvPr/>
        </p:nvSpPr>
        <p:spPr>
          <a:xfrm>
            <a:off x="995274" y="2532943"/>
            <a:ext cx="4961091" cy="248238"/>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0E1A2F"/>
                </a:solidFill>
                <a:latin typeface="Inter" pitchFamily="34" charset="0"/>
                <a:ea typeface="Inter" pitchFamily="34" charset="-122"/>
                <a:cs typeface="Inter" pitchFamily="34" charset="-120"/>
              </a:rPr>
              <a:t>· Potential dividends, if declared and sustainable</a:t>
            </a:r>
            <a:endParaRPr lang="en-US" sz="1300" dirty="0"/>
          </a:p>
        </p:txBody>
      </p:sp>
      <p:sp>
        <p:nvSpPr>
          <p:cNvPr id="8" name="Text 6"/>
          <p:cNvSpPr/>
          <p:nvPr/>
        </p:nvSpPr>
        <p:spPr>
          <a:xfrm>
            <a:off x="995274" y="2844639"/>
            <a:ext cx="4961091" cy="248238"/>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0E1A2F"/>
                </a:solidFill>
                <a:latin typeface="Inter" pitchFamily="34" charset="0"/>
                <a:ea typeface="Inter" pitchFamily="34" charset="-122"/>
                <a:cs typeface="Inter" pitchFamily="34" charset="-120"/>
              </a:rPr>
              <a:t>· Periodic reporting and visibility on use of funds</a:t>
            </a:r>
            <a:endParaRPr lang="en-US" sz="1300" dirty="0"/>
          </a:p>
        </p:txBody>
      </p:sp>
      <p:sp>
        <p:nvSpPr>
          <p:cNvPr id="9" name="Text 7"/>
          <p:cNvSpPr/>
          <p:nvPr/>
        </p:nvSpPr>
        <p:spPr>
          <a:xfrm>
            <a:off x="995274" y="3156334"/>
            <a:ext cx="4961091" cy="248238"/>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0E1A2F"/>
                </a:solidFill>
                <a:latin typeface="Inter" pitchFamily="34" charset="0"/>
                <a:ea typeface="Inter" pitchFamily="34" charset="-122"/>
                <a:cs typeface="Inter" pitchFamily="34" charset="-120"/>
              </a:rPr>
              <a:t>· Milestone-based capital deployment</a:t>
            </a:r>
            <a:endParaRPr lang="en-US" sz="1300" dirty="0"/>
          </a:p>
        </p:txBody>
      </p:sp>
      <p:sp>
        <p:nvSpPr>
          <p:cNvPr id="10" name="Shape 8"/>
          <p:cNvSpPr/>
          <p:nvPr/>
        </p:nvSpPr>
        <p:spPr>
          <a:xfrm>
            <a:off x="6200673" y="1412819"/>
            <a:ext cx="5175295" cy="2145668"/>
          </a:xfrm>
          <a:prstGeom prst="roundRect">
            <a:avLst>
              <a:gd name="adj" fmla="val 4587"/>
            </a:avLst>
          </a:prstGeom>
          <a:solidFill>
            <a:srgbClr val="FFFFFF"/>
          </a:solidFill>
          <a:ln w="6350">
            <a:solidFill>
              <a:srgbClr val="E2DED2"/>
            </a:solidFill>
            <a:prstDash val="solid"/>
          </a:ln>
        </p:spPr>
      </p:sp>
      <p:sp>
        <p:nvSpPr>
          <p:cNvPr id="11" name="Text 9"/>
          <p:cNvSpPr/>
          <p:nvPr/>
        </p:nvSpPr>
        <p:spPr>
          <a:xfrm>
            <a:off x="6379987" y="1592132"/>
            <a:ext cx="4961167" cy="253971"/>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F7F74"/>
                </a:solidFill>
                <a:latin typeface="Inter" pitchFamily="34" charset="0"/>
                <a:ea typeface="Inter" pitchFamily="34" charset="-122"/>
                <a:cs typeface="Inter" pitchFamily="34" charset="-120"/>
              </a:rPr>
              <a:t>Financial Risk Management</a:t>
            </a:r>
            <a:endParaRPr lang="en-US" sz="1500" dirty="0"/>
          </a:p>
        </p:txBody>
      </p:sp>
      <p:sp>
        <p:nvSpPr>
          <p:cNvPr id="12" name="Text 10"/>
          <p:cNvSpPr/>
          <p:nvPr/>
        </p:nvSpPr>
        <p:spPr>
          <a:xfrm>
            <a:off x="6379987" y="1909558"/>
            <a:ext cx="4961167" cy="436827"/>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2B3A55"/>
                </a:solidFill>
                <a:latin typeface="Inter" pitchFamily="34" charset="0"/>
                <a:ea typeface="Inter" pitchFamily="34" charset="-122"/>
                <a:cs typeface="Inter" pitchFamily="34" charset="-120"/>
              </a:rPr>
              <a:t>Risks: delayed client payments, client concentration, cost overruns, cyber incidents, hiring ahead of revenue.</a:t>
            </a:r>
            <a:endParaRPr lang="en-US" sz="1200" dirty="0"/>
          </a:p>
        </p:txBody>
      </p:sp>
      <p:sp>
        <p:nvSpPr>
          <p:cNvPr id="13" name="Text 11"/>
          <p:cNvSpPr/>
          <p:nvPr/>
        </p:nvSpPr>
        <p:spPr>
          <a:xfrm>
            <a:off x="6379987" y="2409844"/>
            <a:ext cx="4961167" cy="64254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2B3A55"/>
                </a:solidFill>
                <a:latin typeface="Inter" pitchFamily="34" charset="0"/>
                <a:ea typeface="Inter" pitchFamily="34" charset="-122"/>
                <a:cs typeface="Inter" pitchFamily="34" charset="-120"/>
              </a:rPr>
              <a:t>Controls: 13-week cash forecast, weekly overdue-invoice review, milestone billing, project-level margin tracking, monthly budget review, staged investment deployment.</a:t>
            </a:r>
            <a:endParaRPr lang="en-US" sz="1200" dirty="0"/>
          </a:p>
        </p:txBody>
      </p:sp>
      <p:sp>
        <p:nvSpPr>
          <p:cNvPr id="14" name="Shape 12"/>
          <p:cNvSpPr/>
          <p:nvPr/>
        </p:nvSpPr>
        <p:spPr>
          <a:xfrm>
            <a:off x="812785" y="3739443"/>
            <a:ext cx="3386667" cy="1170781"/>
          </a:xfrm>
          <a:prstGeom prst="roundRect">
            <a:avLst>
              <a:gd name="adj" fmla="val 8678"/>
            </a:avLst>
          </a:prstGeom>
          <a:solidFill>
            <a:srgbClr val="0E1A2F"/>
          </a:solidFill>
          <a:ln/>
        </p:spPr>
      </p:sp>
      <p:sp>
        <p:nvSpPr>
          <p:cNvPr id="15" name="Text 13"/>
          <p:cNvSpPr/>
          <p:nvPr/>
        </p:nvSpPr>
        <p:spPr>
          <a:xfrm>
            <a:off x="990571" y="3917231"/>
            <a:ext cx="3122029" cy="558756"/>
          </a:xfrm>
          <a:prstGeom prst="rect">
            <a:avLst/>
          </a:prstGeom>
          <a:noFill/>
          <a:ln/>
        </p:spPr>
        <p:txBody>
          <a:bodyPr wrap="square" lIns="0" tIns="0" rIns="0" bIns="0" rtlCol="0" anchor="t">
            <a:normAutofit/>
          </a:bodyPr>
          <a:lstStyle/>
          <a:p>
            <a:pPr marL="0" indent="0" algn="l">
              <a:lnSpc>
                <a:spcPts val="4200"/>
              </a:lnSpc>
              <a:buNone/>
            </a:pPr>
            <a:r>
              <a:rPr lang="en-US" sz="3000" b="1" dirty="0">
                <a:solidFill>
                  <a:srgbClr val="F2A33A"/>
                </a:solidFill>
                <a:latin typeface="Sora" pitchFamily="34" charset="0"/>
                <a:ea typeface="Sora" pitchFamily="34" charset="-122"/>
                <a:cs typeface="Sora" pitchFamily="34" charset="-120"/>
              </a:rPr>
              <a:t>₹45 L</a:t>
            </a:r>
            <a:endParaRPr lang="en-US" sz="3000" dirty="0"/>
          </a:p>
        </p:txBody>
      </p:sp>
      <p:sp>
        <p:nvSpPr>
          <p:cNvPr id="16" name="Text 14"/>
          <p:cNvSpPr/>
          <p:nvPr/>
        </p:nvSpPr>
        <p:spPr>
          <a:xfrm>
            <a:off x="990571" y="4501375"/>
            <a:ext cx="3122029" cy="25646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C9D3E3"/>
                </a:solidFill>
                <a:latin typeface="Inter" pitchFamily="34" charset="0"/>
                <a:ea typeface="Inter" pitchFamily="34" charset="-122"/>
                <a:cs typeface="Inter" pitchFamily="34" charset="-120"/>
              </a:rPr>
              <a:t>cash and equivalents (illustrative)</a:t>
            </a:r>
            <a:endParaRPr lang="en-US" sz="1300" dirty="0"/>
          </a:p>
        </p:txBody>
      </p:sp>
      <p:sp>
        <p:nvSpPr>
          <p:cNvPr id="17" name="Shape 15"/>
          <p:cNvSpPr/>
          <p:nvPr/>
        </p:nvSpPr>
        <p:spPr>
          <a:xfrm>
            <a:off x="4402594" y="3739443"/>
            <a:ext cx="3386741" cy="1170781"/>
          </a:xfrm>
          <a:prstGeom prst="roundRect">
            <a:avLst>
              <a:gd name="adj" fmla="val 8678"/>
            </a:avLst>
          </a:prstGeom>
          <a:solidFill>
            <a:srgbClr val="0E1A2F"/>
          </a:solidFill>
          <a:ln/>
        </p:spPr>
      </p:sp>
      <p:sp>
        <p:nvSpPr>
          <p:cNvPr id="18" name="Text 16"/>
          <p:cNvSpPr/>
          <p:nvPr/>
        </p:nvSpPr>
        <p:spPr>
          <a:xfrm>
            <a:off x="4580379" y="3917231"/>
            <a:ext cx="3122105" cy="558756"/>
          </a:xfrm>
          <a:prstGeom prst="rect">
            <a:avLst/>
          </a:prstGeom>
          <a:noFill/>
          <a:ln/>
        </p:spPr>
        <p:txBody>
          <a:bodyPr wrap="square" lIns="0" tIns="0" rIns="0" bIns="0" rtlCol="0" anchor="t">
            <a:normAutofit/>
          </a:bodyPr>
          <a:lstStyle/>
          <a:p>
            <a:pPr marL="0" indent="0" algn="l">
              <a:lnSpc>
                <a:spcPts val="4200"/>
              </a:lnSpc>
              <a:buNone/>
            </a:pPr>
            <a:r>
              <a:rPr lang="en-US" sz="3000" b="1" dirty="0">
                <a:solidFill>
                  <a:srgbClr val="F2A33A"/>
                </a:solidFill>
                <a:latin typeface="Sora" pitchFamily="34" charset="0"/>
                <a:ea typeface="Sora" pitchFamily="34" charset="-122"/>
                <a:cs typeface="Sora" pitchFamily="34" charset="-120"/>
              </a:rPr>
              <a:t>₹35 L</a:t>
            </a:r>
            <a:endParaRPr lang="en-US" sz="3000" dirty="0"/>
          </a:p>
        </p:txBody>
      </p:sp>
      <p:sp>
        <p:nvSpPr>
          <p:cNvPr id="19" name="Text 17"/>
          <p:cNvSpPr/>
          <p:nvPr/>
        </p:nvSpPr>
        <p:spPr>
          <a:xfrm>
            <a:off x="4580379" y="4501375"/>
            <a:ext cx="3122105" cy="25646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C9D3E3"/>
                </a:solidFill>
                <a:latin typeface="Inter" pitchFamily="34" charset="0"/>
                <a:ea typeface="Inter" pitchFamily="34" charset="-122"/>
                <a:cs typeface="Inter" pitchFamily="34" charset="-120"/>
              </a:rPr>
              <a:t>client receivables (illustrative)</a:t>
            </a:r>
            <a:endParaRPr lang="en-US" sz="1300" dirty="0"/>
          </a:p>
        </p:txBody>
      </p:sp>
      <p:sp>
        <p:nvSpPr>
          <p:cNvPr id="20" name="Shape 18"/>
          <p:cNvSpPr/>
          <p:nvPr/>
        </p:nvSpPr>
        <p:spPr>
          <a:xfrm>
            <a:off x="7992476" y="3739443"/>
            <a:ext cx="3386667" cy="1170781"/>
          </a:xfrm>
          <a:prstGeom prst="roundRect">
            <a:avLst>
              <a:gd name="adj" fmla="val 8678"/>
            </a:avLst>
          </a:prstGeom>
          <a:solidFill>
            <a:srgbClr val="0E1A2F"/>
          </a:solidFill>
          <a:ln/>
        </p:spPr>
      </p:sp>
      <p:sp>
        <p:nvSpPr>
          <p:cNvPr id="21" name="Text 19"/>
          <p:cNvSpPr/>
          <p:nvPr/>
        </p:nvSpPr>
        <p:spPr>
          <a:xfrm>
            <a:off x="8170261" y="3917231"/>
            <a:ext cx="3122029" cy="558756"/>
          </a:xfrm>
          <a:prstGeom prst="rect">
            <a:avLst/>
          </a:prstGeom>
          <a:noFill/>
          <a:ln/>
        </p:spPr>
        <p:txBody>
          <a:bodyPr wrap="square" lIns="0" tIns="0" rIns="0" bIns="0" rtlCol="0" anchor="t">
            <a:normAutofit/>
          </a:bodyPr>
          <a:lstStyle/>
          <a:p>
            <a:pPr marL="0" indent="0" algn="l">
              <a:lnSpc>
                <a:spcPts val="4200"/>
              </a:lnSpc>
              <a:buNone/>
            </a:pPr>
            <a:r>
              <a:rPr lang="en-US" sz="3000" b="1" dirty="0">
                <a:solidFill>
                  <a:srgbClr val="F2A33A"/>
                </a:solidFill>
                <a:latin typeface="Sora" pitchFamily="34" charset="0"/>
                <a:ea typeface="Sora" pitchFamily="34" charset="-122"/>
                <a:cs typeface="Sora" pitchFamily="34" charset="-120"/>
              </a:rPr>
              <a:t>₹20 L</a:t>
            </a:r>
            <a:endParaRPr lang="en-US" sz="3000" dirty="0"/>
          </a:p>
        </p:txBody>
      </p:sp>
      <p:sp>
        <p:nvSpPr>
          <p:cNvPr id="22" name="Text 20"/>
          <p:cNvSpPr/>
          <p:nvPr/>
        </p:nvSpPr>
        <p:spPr>
          <a:xfrm>
            <a:off x="8170261" y="4501375"/>
            <a:ext cx="3122029" cy="25646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C9D3E3"/>
                </a:solidFill>
                <a:latin typeface="Inter" pitchFamily="34" charset="0"/>
                <a:ea typeface="Inter" pitchFamily="34" charset="-122"/>
                <a:cs typeface="Inter" pitchFamily="34" charset="-120"/>
              </a:rPr>
              <a:t>existing business loans (illustrative)</a:t>
            </a:r>
            <a:endParaRPr lang="en-US" sz="1300" dirty="0"/>
          </a:p>
        </p:txBody>
      </p:sp>
      <p:sp>
        <p:nvSpPr>
          <p:cNvPr id="23" name="Text 21"/>
          <p:cNvSpPr/>
          <p:nvPr/>
        </p:nvSpPr>
        <p:spPr>
          <a:xfrm>
            <a:off x="812785" y="5088012"/>
            <a:ext cx="10883348" cy="23875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07A"/>
                </a:solidFill>
                <a:latin typeface="Inter" pitchFamily="34" charset="0"/>
                <a:ea typeface="Inter" pitchFamily="34" charset="-122"/>
                <a:cs typeface="Inter" pitchFamily="34" charset="-120"/>
              </a:rPr>
              <a:t>Returns are not guaranteed. Terms and valuation are subject to negotiation and due diligence.</a:t>
            </a:r>
            <a:endParaRPr lang="en-US" sz="1200" dirty="0"/>
          </a:p>
        </p:txBody>
      </p:sp>
      <p:sp>
        <p:nvSpPr>
          <p:cNvPr id="24" name="Text 22"/>
          <p:cNvSpPr/>
          <p:nvPr/>
        </p:nvSpPr>
        <p:spPr>
          <a:xfrm>
            <a:off x="812785" y="6238218"/>
            <a:ext cx="5886375" cy="23875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07A"/>
                </a:solidFill>
                <a:latin typeface="Inter" pitchFamily="34" charset="0"/>
                <a:ea typeface="Inter" pitchFamily="34" charset="-122"/>
                <a:cs typeface="Inter" pitchFamily="34" charset="-120"/>
              </a:rPr>
              <a:t>Anvexa · Investor Pitch</a:t>
            </a:r>
            <a:endParaRPr lang="en-US" sz="1200" dirty="0"/>
          </a:p>
        </p:txBody>
      </p:sp>
      <p:sp>
        <p:nvSpPr>
          <p:cNvPr id="25" name="Text 23"/>
          <p:cNvSpPr/>
          <p:nvPr/>
        </p:nvSpPr>
        <p:spPr>
          <a:xfrm>
            <a:off x="10693416" y="6238218"/>
            <a:ext cx="685727" cy="238757"/>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5607A"/>
                </a:solidFill>
                <a:latin typeface="Inter" pitchFamily="34" charset="0"/>
                <a:ea typeface="Inter" pitchFamily="34" charset="-122"/>
                <a:cs typeface="Inter" pitchFamily="34" charset="-120"/>
              </a:rPr>
              <a:t>12</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0E1A2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785" y="812788"/>
            <a:ext cx="10883348" cy="444471"/>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F5F3EC"/>
                </a:solidFill>
                <a:latin typeface="Sora" pitchFamily="34" charset="0"/>
                <a:ea typeface="Sora" pitchFamily="34" charset="-122"/>
                <a:cs typeface="Sora" pitchFamily="34" charset="-120"/>
              </a:rPr>
              <a:t>Conclusion</a:t>
            </a:r>
            <a:endParaRPr lang="en-US" sz="3000" dirty="0"/>
          </a:p>
        </p:txBody>
      </p:sp>
      <p:sp>
        <p:nvSpPr>
          <p:cNvPr id="3" name="Text 1"/>
          <p:cNvSpPr/>
          <p:nvPr/>
        </p:nvSpPr>
        <p:spPr>
          <a:xfrm>
            <a:off x="812785" y="1536644"/>
            <a:ext cx="9810676" cy="1911291"/>
          </a:xfrm>
          <a:prstGeom prst="rect">
            <a:avLst/>
          </a:prstGeom>
          <a:noFill/>
          <a:ln/>
        </p:spPr>
        <p:txBody>
          <a:bodyPr wrap="square" lIns="0" tIns="0" rIns="0" bIns="0" rtlCol="0" anchor="t">
            <a:normAutofit/>
          </a:bodyPr>
          <a:lstStyle/>
          <a:p>
            <a:pPr marL="0" indent="0" algn="l">
              <a:lnSpc>
                <a:spcPts val="2970"/>
              </a:lnSpc>
              <a:buNone/>
            </a:pPr>
            <a:r>
              <a:rPr lang="en-US" sz="2200" b="1" dirty="0">
                <a:solidFill>
                  <a:srgbClr val="F5F3EC"/>
                </a:solidFill>
                <a:latin typeface="Sora" pitchFamily="34" charset="0"/>
                <a:ea typeface="Sora" pitchFamily="34" charset="-122"/>
                <a:cs typeface="Sora" pitchFamily="34" charset="-120"/>
              </a:rPr>
              <a:t>Anvexa combines a connected, secure and intelligent platform with a usage-based model that already serves 32 recurring clients profitably. ₹2 Cr of growth capital will strengthen our AI, Cloud, Cybersecurity and Quantum readiness as we keep serving India’s mid-market.</a:t>
            </a:r>
            <a:endParaRPr lang="en-US" sz="2200" dirty="0"/>
          </a:p>
        </p:txBody>
      </p:sp>
      <p:sp>
        <p:nvSpPr>
          <p:cNvPr id="4" name="Text 2"/>
          <p:cNvSpPr/>
          <p:nvPr/>
        </p:nvSpPr>
        <p:spPr>
          <a:xfrm>
            <a:off x="812785" y="3727320"/>
            <a:ext cx="10883348" cy="523184"/>
          </a:xfrm>
          <a:prstGeom prst="rect">
            <a:avLst/>
          </a:prstGeom>
          <a:noFill/>
          <a:ln/>
        </p:spPr>
        <p:txBody>
          <a:bodyPr wrap="square" lIns="0" tIns="0" rIns="0" bIns="0" rtlCol="0" anchor="t">
            <a:normAutofit/>
          </a:bodyPr>
          <a:lstStyle/>
          <a:p>
            <a:pPr marL="0" indent="0" algn="l">
              <a:lnSpc>
                <a:spcPts val="3920"/>
              </a:lnSpc>
              <a:buNone/>
            </a:pPr>
            <a:r>
              <a:rPr lang="en-US" sz="2800" i="1" dirty="0">
                <a:solidFill>
                  <a:srgbClr val="F2A33A"/>
                </a:solidFill>
                <a:latin typeface="Sora" pitchFamily="34" charset="0"/>
                <a:ea typeface="Sora" pitchFamily="34" charset="-122"/>
                <a:cs typeface="Sora" pitchFamily="34" charset="-120"/>
              </a:rPr>
              <a:t>Connected by Intelligence.</a:t>
            </a:r>
            <a:endParaRPr lang="en-US" sz="2800" dirty="0"/>
          </a:p>
        </p:txBody>
      </p:sp>
      <p:sp>
        <p:nvSpPr>
          <p:cNvPr id="5" name="Text 3"/>
          <p:cNvSpPr/>
          <p:nvPr/>
        </p:nvSpPr>
        <p:spPr>
          <a:xfrm>
            <a:off x="812785" y="6238218"/>
            <a:ext cx="5886375" cy="23875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9B6CC"/>
                </a:solidFill>
                <a:latin typeface="Inter" pitchFamily="34" charset="0"/>
                <a:ea typeface="Inter" pitchFamily="34" charset="-122"/>
                <a:cs typeface="Inter" pitchFamily="34" charset="-120"/>
              </a:rPr>
              <a:t>Anvexa · Investor Pitch</a:t>
            </a:r>
            <a:endParaRPr lang="en-US" sz="1200" dirty="0"/>
          </a:p>
        </p:txBody>
      </p:sp>
      <p:sp>
        <p:nvSpPr>
          <p:cNvPr id="6" name="Text 4"/>
          <p:cNvSpPr/>
          <p:nvPr/>
        </p:nvSpPr>
        <p:spPr>
          <a:xfrm>
            <a:off x="10693416" y="6238218"/>
            <a:ext cx="685727" cy="238757"/>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A9B6CC"/>
                </a:solidFill>
                <a:latin typeface="Inter" pitchFamily="34" charset="0"/>
                <a:ea typeface="Inter" pitchFamily="34" charset="-122"/>
                <a:cs typeface="Inter" pitchFamily="34" charset="-120"/>
              </a:rPr>
              <a:t>13</a:t>
            </a:r>
            <a:endParaRPr lang="en-US" sz="1200" dirty="0"/>
          </a:p>
        </p:txBody>
      </p:sp>
    </p:spTree>
  </p:cSld>
  <p:clrMapOvr>
    <a:masterClrMapping/>
  </p:clrMapOvr>
</p:sld>
</file>

<file path=ppt/theme/theme1.xml><?xml version="1.0" encoding="utf-8"?>
<a:theme xmlns:a="http://schemas.openxmlformats.org/drawingml/2006/main" name="Anvexa — Investor Pitch">
  <a:themeElements>
    <a:clrScheme name="Anvexa — Investor Pitch">
      <a:dk1>
        <a:srgbClr val="0E1A2F"/>
      </a:dk1>
      <a:lt1>
        <a:srgbClr val="F5F3EC"/>
      </a:lt1>
      <a:dk2>
        <a:srgbClr val="48505E"/>
      </a:dk2>
      <a:lt2>
        <a:srgbClr val="DEDDD9"/>
      </a:lt2>
      <a:accent1>
        <a:srgbClr val="0F7F74"/>
      </a:accent1>
      <a:accent2>
        <a:srgbClr val="2B3A55"/>
      </a:accent2>
      <a:accent3>
        <a:srgbClr val="F2A33A"/>
      </a:accent3>
      <a:accent4>
        <a:srgbClr val="1FB6A6"/>
      </a:accent4>
      <a:accent5>
        <a:srgbClr val="14284A"/>
      </a:accent5>
      <a:accent6>
        <a:srgbClr val="55607A"/>
      </a:accent6>
      <a:hlink>
        <a:srgbClr val="0563C1"/>
      </a:hlink>
      <a:folHlink>
        <a:srgbClr val="954F72"/>
      </a:folHlink>
    </a:clrScheme>
    <a:fontScheme name="Anvexa — Investor Pitch">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47dea8b7-9eaa-40b7-9fe0-5c9e237036c0}" enabled="1" method="Privileged" siteId="{76a2ae5a-9f00-4f6b-95ed-5d33d77c4d61}" removed="0"/>
</clbl:labelList>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Widescreen</PresentationFormat>
  <Paragraphs>0</Paragraphs>
  <Slides>14</Slides>
  <Notes>13</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Anvexa — Investor Pitch</vt:lpstr>
      <vt:lpstr>Anvexa</vt:lpstr>
      <vt:lpstr>Our Mission</vt:lpstr>
      <vt:lpstr>Our Vision</vt:lpstr>
      <vt:lpstr>Summary</vt:lpstr>
      <vt:lpstr>Company Background</vt:lpstr>
      <vt:lpstr>Products &amp; Services</vt:lpstr>
      <vt:lpstr>Our USP</vt:lpstr>
      <vt:lpstr>Business Model</vt:lpstr>
      <vt:lpstr>PowerPoint Presentation</vt:lpstr>
      <vt:lpstr>Financial Performance</vt:lpstr>
      <vt:lpstr>Growth Strategy &amp; Roadmap</vt:lpstr>
      <vt:lpstr>Investment Proposal</vt:lpstr>
      <vt:lpstr>Investor Value &amp; Risk Management</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Anvexa — Investor Pitch</dc:title>
  <dc:subject/>
  <dc:creator/>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Inter
Copyright 2020 The Inter Project Authors (https://github.com/rsms/inter)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Sora
Copyright 2019 The Sora Project Authors (https://github.com/sora-xor/sora-font)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cp:lastModifiedBy/>
  <cp:revision>53</cp:revision>
  <dcterms:created xsi:type="dcterms:W3CDTF">2026-10-28T16:44:57Z</dcterms:created>
  <dcterms:modified xsi:type="dcterms:W3CDTF">2026-10-28T18:51:27Z</dcterms:modified>
</cp:coreProperties>
</file>